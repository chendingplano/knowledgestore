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668" r:id="rId2"/>
    <p:sldId id="701" r:id="rId3"/>
    <p:sldId id="753" r:id="rId4"/>
    <p:sldId id="754" r:id="rId5"/>
    <p:sldId id="755" r:id="rId6"/>
    <p:sldId id="751" r:id="rId7"/>
    <p:sldId id="756" r:id="rId8"/>
    <p:sldId id="752" r:id="rId9"/>
    <p:sldId id="757" r:id="rId10"/>
    <p:sldId id="758" r:id="rId11"/>
    <p:sldId id="759" r:id="rId12"/>
    <p:sldId id="760" r:id="rId13"/>
    <p:sldId id="761" r:id="rId14"/>
    <p:sldId id="762" r:id="rId15"/>
    <p:sldId id="763" r:id="rId16"/>
    <p:sldId id="764" r:id="rId17"/>
    <p:sldId id="765" r:id="rId18"/>
    <p:sldId id="766" r:id="rId19"/>
    <p:sldId id="770" r:id="rId20"/>
    <p:sldId id="767" r:id="rId21"/>
    <p:sldId id="768" r:id="rId22"/>
    <p:sldId id="769" r:id="rId23"/>
    <p:sldId id="775" r:id="rId24"/>
    <p:sldId id="771" r:id="rId25"/>
    <p:sldId id="772" r:id="rId26"/>
    <p:sldId id="776" r:id="rId27"/>
    <p:sldId id="777" r:id="rId28"/>
    <p:sldId id="778" r:id="rId29"/>
    <p:sldId id="773" r:id="rId30"/>
    <p:sldId id="774" r:id="rId31"/>
    <p:sldId id="779" r:id="rId32"/>
    <p:sldId id="780" r:id="rId33"/>
  </p:sldIdLst>
  <p:sldSz cx="12192000" cy="6858000"/>
  <p:notesSz cx="7104063" cy="10234613"/>
  <p:custDataLst>
    <p:tags r:id="rId36"/>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567" userDrawn="1">
          <p15:clr>
            <a:srgbClr val="A4A3A4"/>
          </p15:clr>
        </p15:guide>
        <p15:guide id="2" orient="horz" pos="3688" userDrawn="1">
          <p15:clr>
            <a:srgbClr val="A4A3A4"/>
          </p15:clr>
        </p15:guide>
        <p15:guide id="3" orient="horz" pos="1986" userDrawn="1">
          <p15:clr>
            <a:srgbClr val="A4A3A4"/>
          </p15:clr>
        </p15:guide>
        <p15:guide id="4" pos="347" userDrawn="1">
          <p15:clr>
            <a:srgbClr val="A4A3A4"/>
          </p15:clr>
        </p15:guide>
        <p15:guide id="5" pos="7434" userDrawn="1">
          <p15:clr>
            <a:srgbClr val="A4A3A4"/>
          </p15:clr>
        </p15:guide>
        <p15:guide id="6" pos="3885" userDrawn="1">
          <p15:clr>
            <a:srgbClr val="A4A3A4"/>
          </p15:clr>
        </p15:guide>
      </p15:sldGuideLst>
    </p:ext>
    <p:ext uri="{2D200454-40CA-4A62-9FC3-DE9A4176ACB9}">
      <p15:notesGuideLst xmlns:p15="http://schemas.microsoft.com/office/powerpoint/2012/main">
        <p15:guide id="1" orient="horz" pos="2965">
          <p15:clr>
            <a:srgbClr val="A4A3A4"/>
          </p15:clr>
        </p15:guide>
        <p15:guide id="2" pos="226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z hua" initials="r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B6C0"/>
    <a:srgbClr val="FFFF00"/>
    <a:srgbClr val="000000"/>
    <a:srgbClr val="FF0000"/>
    <a:srgbClr val="005DA2"/>
    <a:srgbClr val="007DDA"/>
    <a:srgbClr val="007FDE"/>
    <a:srgbClr val="0078D2"/>
    <a:srgbClr val="005696"/>
    <a:srgbClr val="8211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E92135-96E9-8B42-B133-7A8888B0FC5F}" v="455" dt="2026-01-06T23:44:21.513"/>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12" autoAdjust="0"/>
    <p:restoredTop sz="95548" autoAdjust="0"/>
  </p:normalViewPr>
  <p:slideViewPr>
    <p:cSldViewPr showGuides="1">
      <p:cViewPr varScale="1">
        <p:scale>
          <a:sx n="121" d="100"/>
          <a:sy n="121" d="100"/>
        </p:scale>
        <p:origin x="1000" y="176"/>
      </p:cViewPr>
      <p:guideLst>
        <p:guide orient="horz" pos="567"/>
        <p:guide orient="horz" pos="3688"/>
        <p:guide orient="horz" pos="1986"/>
        <p:guide pos="347"/>
        <p:guide pos="7434"/>
        <p:guide pos="3885"/>
      </p:guideLst>
    </p:cSldViewPr>
  </p:slideViewPr>
  <p:notesTextViewPr>
    <p:cViewPr>
      <p:scale>
        <a:sx n="100" d="100"/>
        <a:sy n="100" d="100"/>
      </p:scale>
      <p:origin x="0" y="0"/>
    </p:cViewPr>
  </p:notesTextViewPr>
  <p:notesViewPr>
    <p:cSldViewPr>
      <p:cViewPr varScale="1">
        <p:scale>
          <a:sx n="64" d="100"/>
          <a:sy n="64" d="100"/>
        </p:scale>
        <p:origin x="-2862" y="-120"/>
      </p:cViewPr>
      <p:guideLst>
        <p:guide orient="horz" pos="2965"/>
        <p:guide pos="226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78639" cy="511175"/>
          </a:xfrm>
          <a:prstGeom prst="rect">
            <a:avLst/>
          </a:prstGeom>
        </p:spPr>
        <p:txBody>
          <a:bodyPr vert="horz" lIns="99067" tIns="49534" rIns="99067" bIns="49534" rtlCol="0"/>
          <a:lstStyle>
            <a:lvl1pPr algn="l" eaLnBrk="1" hangingPunct="1">
              <a:buFont typeface="Arial" panose="020B0604020202020204" pitchFamily="34" charset="0"/>
              <a:buNone/>
              <a:defRPr sz="1300"/>
            </a:lvl1pPr>
          </a:lstStyle>
          <a:p>
            <a:pPr>
              <a:defRPr/>
            </a:pPr>
            <a:endParaRPr lang="zh-CN" altLang="en-US"/>
          </a:p>
        </p:txBody>
      </p:sp>
      <p:sp>
        <p:nvSpPr>
          <p:cNvPr id="3" name="日期占位符 2"/>
          <p:cNvSpPr>
            <a:spLocks noGrp="1"/>
          </p:cNvSpPr>
          <p:nvPr>
            <p:ph type="dt" sz="quarter" idx="1"/>
          </p:nvPr>
        </p:nvSpPr>
        <p:spPr>
          <a:xfrm>
            <a:off x="4023836" y="1"/>
            <a:ext cx="3078639" cy="511175"/>
          </a:xfrm>
          <a:prstGeom prst="rect">
            <a:avLst/>
          </a:prstGeom>
        </p:spPr>
        <p:txBody>
          <a:bodyPr vert="horz" lIns="99067" tIns="49534" rIns="99067" bIns="49534" rtlCol="0"/>
          <a:lstStyle>
            <a:lvl1pPr algn="r" eaLnBrk="1" hangingPunct="1">
              <a:buFont typeface="Arial" panose="020B0604020202020204" pitchFamily="34" charset="0"/>
              <a:buNone/>
              <a:defRPr sz="1300"/>
            </a:lvl1pPr>
          </a:lstStyle>
          <a:p>
            <a:pPr>
              <a:defRPr/>
            </a:pPr>
            <a:fld id="{63EBE577-9E34-4EE7-B956-8EFD39ECFCDC}" type="datetimeFigureOut">
              <a:rPr lang="zh-CN" altLang="en-US"/>
              <a:t>2026/5/1</a:t>
            </a:fld>
            <a:endParaRPr lang="zh-CN" altLang="en-US"/>
          </a:p>
        </p:txBody>
      </p:sp>
      <p:sp>
        <p:nvSpPr>
          <p:cNvPr id="4" name="页脚占位符 3"/>
          <p:cNvSpPr>
            <a:spLocks noGrp="1"/>
          </p:cNvSpPr>
          <p:nvPr>
            <p:ph type="ftr" sz="quarter" idx="2"/>
          </p:nvPr>
        </p:nvSpPr>
        <p:spPr>
          <a:xfrm>
            <a:off x="0" y="9721851"/>
            <a:ext cx="3078639" cy="511175"/>
          </a:xfrm>
          <a:prstGeom prst="rect">
            <a:avLst/>
          </a:prstGeom>
        </p:spPr>
        <p:txBody>
          <a:bodyPr vert="horz" lIns="99067" tIns="49534" rIns="99067" bIns="49534" rtlCol="0" anchor="b"/>
          <a:lstStyle>
            <a:lvl1pPr algn="l" eaLnBrk="1" hangingPunct="1">
              <a:buFont typeface="Arial" panose="020B0604020202020204" pitchFamily="34" charset="0"/>
              <a:buNone/>
              <a:defRPr sz="1300"/>
            </a:lvl1pPr>
          </a:lstStyle>
          <a:p>
            <a:pPr>
              <a:defRPr/>
            </a:pPr>
            <a:endParaRPr lang="zh-CN" altLang="en-US"/>
          </a:p>
        </p:txBody>
      </p:sp>
      <p:sp>
        <p:nvSpPr>
          <p:cNvPr id="5" name="灯片编号占位符 4"/>
          <p:cNvSpPr>
            <a:spLocks noGrp="1"/>
          </p:cNvSpPr>
          <p:nvPr>
            <p:ph type="sldNum" sz="quarter" idx="3"/>
          </p:nvPr>
        </p:nvSpPr>
        <p:spPr>
          <a:xfrm>
            <a:off x="4023836" y="9721851"/>
            <a:ext cx="3078639" cy="511175"/>
          </a:xfrm>
          <a:prstGeom prst="rect">
            <a:avLst/>
          </a:prstGeom>
        </p:spPr>
        <p:txBody>
          <a:bodyPr vert="horz" wrap="square" lIns="99067" tIns="49534" rIns="99067" bIns="49534" numCol="1" anchor="b" anchorCtr="0" compatLnSpc="1"/>
          <a:lstStyle>
            <a:lvl1pPr algn="r" eaLnBrk="1" hangingPunct="1">
              <a:buFont typeface="Arial" panose="020B0604020202020204" pitchFamily="34" charset="0"/>
              <a:buNone/>
              <a:defRPr sz="1300"/>
            </a:lvl1pPr>
          </a:lstStyle>
          <a:p>
            <a:fld id="{475B0732-45F7-4236-A80E-E0F9B5F72CE5}" type="slidenum">
              <a:rPr lang="zh-CN" altLang="en-US"/>
              <a:t>‹#›</a:t>
            </a:fld>
            <a:endParaRPr lang="en-US" altLang="zh-CN"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3078639" cy="511175"/>
          </a:xfrm>
          <a:prstGeom prst="rect">
            <a:avLst/>
          </a:prstGeom>
        </p:spPr>
        <p:txBody>
          <a:bodyPr vert="horz" lIns="99067" tIns="49534" rIns="99067" bIns="49534" rtlCol="0"/>
          <a:lstStyle>
            <a:lvl1pPr algn="l" eaLnBrk="1" hangingPunct="1">
              <a:buFont typeface="Arial" panose="020B0604020202020204" pitchFamily="34" charset="0"/>
              <a:buNone/>
              <a:defRPr sz="1300"/>
            </a:lvl1pPr>
          </a:lstStyle>
          <a:p>
            <a:pPr>
              <a:defRPr/>
            </a:pPr>
            <a:endParaRPr lang="zh-CN" altLang="en-US"/>
          </a:p>
        </p:txBody>
      </p:sp>
      <p:sp>
        <p:nvSpPr>
          <p:cNvPr id="3" name="日期占位符 2"/>
          <p:cNvSpPr>
            <a:spLocks noGrp="1"/>
          </p:cNvSpPr>
          <p:nvPr>
            <p:ph type="dt" idx="1"/>
          </p:nvPr>
        </p:nvSpPr>
        <p:spPr>
          <a:xfrm>
            <a:off x="4023836" y="1"/>
            <a:ext cx="3078639" cy="511175"/>
          </a:xfrm>
          <a:prstGeom prst="rect">
            <a:avLst/>
          </a:prstGeom>
        </p:spPr>
        <p:txBody>
          <a:bodyPr vert="horz" lIns="99067" tIns="49534" rIns="99067" bIns="49534" rtlCol="0"/>
          <a:lstStyle>
            <a:lvl1pPr algn="r" eaLnBrk="1" hangingPunct="1">
              <a:buFont typeface="Arial" panose="020B0604020202020204" pitchFamily="34" charset="0"/>
              <a:buNone/>
              <a:defRPr sz="1300"/>
            </a:lvl1pPr>
          </a:lstStyle>
          <a:p>
            <a:pPr>
              <a:defRPr/>
            </a:pPr>
            <a:fld id="{14C30981-4A8F-4441-89B4-5C767D10763F}" type="datetimeFigureOut">
              <a:rPr lang="zh-CN" altLang="en-US"/>
              <a:t>2026/5/1</a:t>
            </a:fld>
            <a:endParaRPr lang="zh-CN" altLang="en-US"/>
          </a:p>
        </p:txBody>
      </p:sp>
      <p:sp>
        <p:nvSpPr>
          <p:cNvPr id="4" name="幻灯片图像占位符 3"/>
          <p:cNvSpPr>
            <a:spLocks noGrp="1" noRot="1" noChangeAspect="1"/>
          </p:cNvSpPr>
          <p:nvPr>
            <p:ph type="sldImg" idx="2"/>
          </p:nvPr>
        </p:nvSpPr>
        <p:spPr>
          <a:xfrm>
            <a:off x="141288" y="768350"/>
            <a:ext cx="6821487" cy="3836988"/>
          </a:xfrm>
          <a:prstGeom prst="rect">
            <a:avLst/>
          </a:prstGeom>
          <a:noFill/>
          <a:ln w="12700">
            <a:solidFill>
              <a:prstClr val="black"/>
            </a:solidFill>
          </a:ln>
        </p:spPr>
        <p:txBody>
          <a:bodyPr vert="horz" lIns="99067" tIns="49534" rIns="99067" bIns="49534" rtlCol="0" anchor="ctr"/>
          <a:lstStyle/>
          <a:p>
            <a:pPr lvl="0"/>
            <a:endParaRPr lang="zh-CN" altLang="en-US" noProof="0"/>
          </a:p>
        </p:txBody>
      </p:sp>
      <p:sp>
        <p:nvSpPr>
          <p:cNvPr id="5" name="备注占位符 4"/>
          <p:cNvSpPr>
            <a:spLocks noGrp="1"/>
          </p:cNvSpPr>
          <p:nvPr>
            <p:ph type="body" sz="quarter" idx="3"/>
          </p:nvPr>
        </p:nvSpPr>
        <p:spPr>
          <a:xfrm>
            <a:off x="710090" y="4860925"/>
            <a:ext cx="5683886" cy="4605338"/>
          </a:xfrm>
          <a:prstGeom prst="rect">
            <a:avLst/>
          </a:prstGeom>
        </p:spPr>
        <p:txBody>
          <a:bodyPr vert="horz" lIns="99067" tIns="49534" rIns="99067" bIns="49534"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1851"/>
            <a:ext cx="3078639" cy="511175"/>
          </a:xfrm>
          <a:prstGeom prst="rect">
            <a:avLst/>
          </a:prstGeom>
        </p:spPr>
        <p:txBody>
          <a:bodyPr vert="horz" lIns="99067" tIns="49534" rIns="99067" bIns="49534" rtlCol="0" anchor="b"/>
          <a:lstStyle>
            <a:lvl1pPr algn="l" eaLnBrk="1" hangingPunct="1">
              <a:buFont typeface="Arial" panose="020B0604020202020204" pitchFamily="34" charset="0"/>
              <a:buNone/>
              <a:defRPr sz="1300"/>
            </a:lvl1pPr>
          </a:lstStyle>
          <a:p>
            <a:pPr>
              <a:defRPr/>
            </a:pPr>
            <a:endParaRPr lang="zh-CN" altLang="en-US"/>
          </a:p>
        </p:txBody>
      </p:sp>
      <p:sp>
        <p:nvSpPr>
          <p:cNvPr id="7" name="灯片编号占位符 6"/>
          <p:cNvSpPr>
            <a:spLocks noGrp="1"/>
          </p:cNvSpPr>
          <p:nvPr>
            <p:ph type="sldNum" sz="quarter" idx="5"/>
          </p:nvPr>
        </p:nvSpPr>
        <p:spPr>
          <a:xfrm>
            <a:off x="4023836" y="9721851"/>
            <a:ext cx="3078639" cy="511175"/>
          </a:xfrm>
          <a:prstGeom prst="rect">
            <a:avLst/>
          </a:prstGeom>
        </p:spPr>
        <p:txBody>
          <a:bodyPr vert="horz" wrap="square" lIns="99067" tIns="49534" rIns="99067" bIns="49534" numCol="1" anchor="b" anchorCtr="0" compatLnSpc="1"/>
          <a:lstStyle>
            <a:lvl1pPr algn="r" eaLnBrk="1" hangingPunct="1">
              <a:buFont typeface="Arial" panose="020B0604020202020204" pitchFamily="34" charset="0"/>
              <a:buNone/>
              <a:defRPr sz="1300"/>
            </a:lvl1pPr>
          </a:lstStyle>
          <a:p>
            <a:fld id="{F8DA3FBF-9F0B-4FC0-88E8-E6054D4AF344}" type="slidenum">
              <a:rPr lang="zh-CN" altLang="en-US"/>
              <a:t>‹#›</a:t>
            </a:fld>
            <a:endParaRPr lang="en-US" altLang="zh-CN"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AC3681DB-6C3C-4314-8C34-9F8EF3D15FF1}" type="datetimeFigureOut">
              <a:rPr lang="zh-CN" altLang="en-US" smtClean="0"/>
              <a:t>2026/5/1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fld id="{E9A7FB2F-1A74-4329-BE03-0B99C480D16B}" type="slidenum">
              <a:rPr lang="zh-CN" altLang="en-US"/>
              <a:t>‹#›</a:t>
            </a:fld>
            <a:endParaRPr lang="en-US" altLang="zh-CN" dirty="0"/>
          </a:p>
        </p:txBody>
      </p:sp>
    </p:spTree>
  </p:cSld>
  <p:clrMapOvr>
    <a:masterClrMapping/>
  </p:clrMapOvr>
  <p:transition spd="slow" advClick="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59DCCEC9-71DD-41F9-A07A-2EFA4036758D}" type="datetimeFigureOut">
              <a:rPr lang="zh-CN" altLang="en-US" smtClean="0"/>
              <a:t>2026/5/1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fld id="{E1B1D4C6-2870-4DC0-BF4E-12C8A75A1840}" type="slidenum">
              <a:rPr lang="zh-CN" altLang="en-US"/>
              <a:t>‹#›</a:t>
            </a:fld>
            <a:endParaRPr lang="en-US" altLang="zh-CN" dirty="0"/>
          </a:p>
        </p:txBody>
      </p:sp>
    </p:spTree>
  </p:cSld>
  <p:clrMapOvr>
    <a:masterClrMapping/>
  </p:clrMapOvr>
  <p:transition spd="slow" advClick="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11F4CF62-82C4-49E8-B9E6-EC30ABC32F6F}" type="datetimeFigureOut">
              <a:rPr lang="zh-CN" altLang="en-US" smtClean="0"/>
              <a:t>2026/5/1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fld id="{ED7ABE6C-593C-4723-94A4-438C49B8B473}" type="slidenum">
              <a:rPr lang="zh-CN" altLang="en-US"/>
              <a:t>‹#›</a:t>
            </a:fld>
            <a:endParaRPr lang="en-US" altLang="zh-CN" dirty="0"/>
          </a:p>
        </p:txBody>
      </p:sp>
    </p:spTree>
  </p:cSld>
  <p:clrMapOvr>
    <a:masterClrMapping/>
  </p:clrMapOvr>
  <p:transition spd="slow" advClick="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177F9100-3892-47D9-80CC-12F90B67B9B4}" type="datetimeFigureOut">
              <a:rPr lang="zh-CN" altLang="en-US" smtClean="0"/>
              <a:t>2026/5/1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fld id="{C7511C34-0471-4893-A1A8-B59E60E93612}" type="slidenum">
              <a:rPr lang="zh-CN" altLang="en-US"/>
              <a:t>‹#›</a:t>
            </a:fld>
            <a:endParaRPr lang="en-US" altLang="zh-CN" dirty="0"/>
          </a:p>
        </p:txBody>
      </p:sp>
    </p:spTree>
  </p:cSld>
  <p:clrMapOvr>
    <a:masterClrMapping/>
  </p:clrMapOvr>
  <p:transition spd="slow" advClick="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E3567303-3B5B-4B99-8810-88496E63C089}" type="datetimeFigureOut">
              <a:rPr lang="zh-CN" altLang="en-US" smtClean="0"/>
              <a:t>2026/5/1</a:t>
            </a:fld>
            <a:endParaRPr lang="zh-CN" alt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fld id="{59679ADA-A5BE-4C8C-9ED1-6CA92043AECC}" type="slidenum">
              <a:rPr lang="zh-CN" altLang="en-US"/>
              <a:t>‹#›</a:t>
            </a:fld>
            <a:endParaRPr lang="en-US" altLang="zh-CN" dirty="0"/>
          </a:p>
        </p:txBody>
      </p:sp>
    </p:spTree>
  </p:cSld>
  <p:clrMapOvr>
    <a:masterClrMapping/>
  </p:clrMapOvr>
  <p:transition spd="slow" advClick="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48ED43AA-79E3-4814-BB45-C63C36E1AF7F}" type="datetimeFigureOut">
              <a:rPr lang="zh-CN" altLang="en-US" smtClean="0"/>
              <a:t>2026/5/1</a:t>
            </a:fld>
            <a:endParaRPr lang="zh-CN" alt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fld id="{FD14F74B-E2A0-43A8-8125-E7081D6A781D}" type="slidenum">
              <a:rPr lang="zh-CN" altLang="en-US"/>
              <a:t>‹#›</a:t>
            </a:fld>
            <a:endParaRPr lang="en-US" altLang="zh-CN" dirty="0"/>
          </a:p>
        </p:txBody>
      </p:sp>
    </p:spTree>
  </p:cSld>
  <p:clrMapOvr>
    <a:masterClrMapping/>
  </p:clrMapOvr>
  <p:transition spd="slow" advClick="0">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p:txBody>
          <a:bodyPr/>
          <a:lstStyle>
            <a:lvl1pPr>
              <a:defRPr/>
            </a:lvl1pPr>
          </a:lstStyle>
          <a:p>
            <a:pPr>
              <a:defRPr/>
            </a:pPr>
            <a:fld id="{B6A3242F-3485-44CD-B231-27EBB772EEDE}" type="datetimeFigureOut">
              <a:rPr lang="zh-CN" altLang="en-US" smtClean="0"/>
              <a:t>2026/5/1</a:t>
            </a:fld>
            <a:endParaRPr lang="zh-CN" altLang="en-US"/>
          </a:p>
        </p:txBody>
      </p:sp>
      <p:sp>
        <p:nvSpPr>
          <p:cNvPr id="3"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p:txBody>
          <a:bodyPr/>
          <a:lstStyle>
            <a:lvl1pPr>
              <a:defRPr/>
            </a:lvl1pPr>
          </a:lstStyle>
          <a:p>
            <a:fld id="{545B2CA9-25F8-42D8-8934-17C49CC2592F}" type="slidenum">
              <a:rPr lang="zh-CN" altLang="en-US"/>
              <a:t>‹#›</a:t>
            </a:fld>
            <a:endParaRPr lang="en-US" altLang="zh-CN" dirty="0"/>
          </a:p>
        </p:txBody>
      </p:sp>
    </p:spTree>
  </p:cSld>
  <p:clrMapOvr>
    <a:masterClrMapping/>
  </p:clrMapOvr>
  <p:transition spd="slow" advClick="0">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50996164-2FD0-46B0-9B03-FE4EECC36EDE}" type="datetimeFigureOut">
              <a:rPr lang="zh-CN" altLang="en-US" smtClean="0"/>
              <a:t>2026/5/1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fld id="{4A9F82A3-F207-4863-96FD-1365FC160F0B}" type="slidenum">
              <a:rPr lang="zh-CN" altLang="en-US"/>
              <a:t>‹#›</a:t>
            </a:fld>
            <a:endParaRPr lang="en-US" altLang="zh-CN" dirty="0"/>
          </a:p>
        </p:txBody>
      </p:sp>
    </p:spTree>
  </p:cSld>
  <p:clrMapOvr>
    <a:masterClrMapping/>
  </p:clrMapOvr>
  <p:transition spd="slow" advClick="0">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66FE26C1-84D6-4EB8-867D-C02D4E2080B4}" type="datetimeFigureOut">
              <a:rPr lang="zh-CN" altLang="en-US" smtClean="0"/>
              <a:t>2026/5/1</a:t>
            </a:fld>
            <a:endParaRPr lang="zh-CN" alt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fld id="{F37C328F-390F-4979-B8BF-1C08155DEC88}" type="slidenum">
              <a:rPr lang="zh-CN" altLang="en-US"/>
              <a:t>‹#›</a:t>
            </a:fld>
            <a:endParaRPr lang="en-US" altLang="zh-CN" dirty="0"/>
          </a:p>
        </p:txBody>
      </p:sp>
    </p:spTree>
  </p:cSld>
  <p:clrMapOvr>
    <a:masterClrMapping/>
  </p:clrMapOvr>
  <p:transition spd="slow" advClick="0">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F6D7AAF0-D419-4DE7-A53E-01D901742C9A}" type="datetimeFigureOut">
              <a:rPr lang="zh-CN" altLang="en-US" smtClean="0"/>
              <a:t>2026/5/1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fld id="{F93C430B-4E71-440D-94E5-DD8BC97D1ED8}" type="slidenum">
              <a:rPr lang="zh-CN" altLang="en-US"/>
              <a:t>‹#›</a:t>
            </a:fld>
            <a:endParaRPr lang="en-US" altLang="zh-CN" dirty="0"/>
          </a:p>
        </p:txBody>
      </p:sp>
    </p:spTree>
  </p:cSld>
  <p:clrMapOvr>
    <a:masterClrMapping/>
  </p:clrMapOvr>
  <p:transition spd="slow" advClick="0">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B89DF8E4-6EA9-434E-B558-08AE66C7C4D3}" type="datetimeFigureOut">
              <a:rPr lang="zh-CN" altLang="en-US" smtClean="0"/>
              <a:t>2026/5/1</a:t>
            </a:fld>
            <a:endParaRPr lang="zh-CN" alt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fld id="{41BB95C4-0AE3-4E46-9933-7289A13D555B}" type="slidenum">
              <a:rPr lang="zh-CN" altLang="en-US"/>
              <a:t>‹#›</a:t>
            </a:fld>
            <a:endParaRPr lang="en-US" altLang="zh-CN" dirty="0"/>
          </a:p>
        </p:txBody>
      </p:sp>
    </p:spTree>
  </p:cSld>
  <p:clrMapOvr>
    <a:masterClrMapping/>
  </p:clrMapOvr>
  <p:transition spd="slow" advClick="0">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68BCBD30-92A3-41D3-B856-2D8D66AD7106}" type="datetime1">
              <a:rPr lang="zh-CN" altLang="en-US" smtClean="0"/>
              <a:t>2026/5/1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67B34C1-29DF-48A7-B438-B832F2B2885C}" type="slidenum">
              <a:rPr lang="zh-CN" altLang="en-US" smtClean="0"/>
              <a:t>‹#›</a:t>
            </a:fld>
            <a:endParaRPr lang="zh-CN" altLang="en-US"/>
          </a:p>
        </p:txBody>
      </p:sp>
    </p:spTree>
  </p:cSld>
  <p:clrMapOvr>
    <a:masterClrMapping/>
  </p:clrMapOvr>
  <p:transition spd="slow" advClick="0">
    <p:push dir="u"/>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spk.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Pie 4"/>
          <p:cNvSpPr/>
          <p:nvPr userDrawn="1"/>
        </p:nvSpPr>
        <p:spPr>
          <a:xfrm rot="5400000" flipH="1" flipV="1">
            <a:off x="-831849" y="2597151"/>
            <a:ext cx="1663699" cy="1663699"/>
          </a:xfrm>
          <a:prstGeom prst="pie">
            <a:avLst>
              <a:gd name="adj1" fmla="val 0"/>
              <a:gd name="adj2" fmla="val 10782358"/>
            </a:avLst>
          </a:prstGeom>
          <a:solidFill>
            <a:srgbClr val="139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 dirty="0">
              <a:solidFill>
                <a:schemeClr val="tx1"/>
              </a:solidFill>
            </a:endParaRPr>
          </a:p>
        </p:txBody>
      </p:sp>
      <p:sp>
        <p:nvSpPr>
          <p:cNvPr id="6" name="Pie 4"/>
          <p:cNvSpPr/>
          <p:nvPr userDrawn="1"/>
        </p:nvSpPr>
        <p:spPr>
          <a:xfrm rot="16200000" flipV="1">
            <a:off x="11360151" y="2597151"/>
            <a:ext cx="1663699" cy="1663699"/>
          </a:xfrm>
          <a:prstGeom prst="pie">
            <a:avLst>
              <a:gd name="adj1" fmla="val 0"/>
              <a:gd name="adj2" fmla="val 10782358"/>
            </a:avLst>
          </a:prstGeom>
          <a:solidFill>
            <a:srgbClr val="1399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 dirty="0">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w="9525">
            <a:noFill/>
            <a:miter lim="800000"/>
          </a:ln>
        </p:spPr>
        <p:txBody>
          <a:bodyPr vert="horz" wrap="square" lIns="91440" tIns="45720" rIns="91440" bIns="45720" numCol="1" anchor="ctr" anchorCtr="0" compatLnSpc="1"/>
          <a:lstStyle/>
          <a:p>
            <a:pPr lvl="0"/>
            <a:r>
              <a:rPr lang="zh-CN" altLang="zh-CN"/>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w="9525">
            <a:noFill/>
            <a:miter lim="800000"/>
          </a:ln>
        </p:spPr>
        <p:txBody>
          <a:bodyPr vert="horz" wrap="square" lIns="91440" tIns="45720" rIns="91440" bIns="45720" numCol="1" anchor="t" anchorCtr="0" compatLnSpc="1"/>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w="9525">
            <a:noFill/>
            <a:miter lim="800000"/>
          </a:ln>
        </p:spPr>
        <p:txBody>
          <a:bodyPr vert="horz" wrap="square" lIns="91440" tIns="45720" rIns="91440" bIns="45720" numCol="1" anchor="ctr" anchorCtr="0" compatLnSpc="1"/>
          <a:lstStyle>
            <a:lvl1pPr eaLnBrk="1" hangingPunct="1">
              <a:buFont typeface="Arial" panose="020B0604020202020204" pitchFamily="34" charset="0"/>
              <a:buNone/>
              <a:defRPr sz="1200">
                <a:solidFill>
                  <a:srgbClr val="898989"/>
                </a:solidFill>
                <a:latin typeface="+mn-lt"/>
              </a:defRPr>
            </a:lvl1pPr>
          </a:lstStyle>
          <a:p>
            <a:pPr>
              <a:defRPr/>
            </a:pPr>
            <a:fld id="{CB5DAE1B-754D-47A2-A225-6E6B5D7FF8FD}" type="datetimeFigureOut">
              <a:rPr lang="zh-CN" altLang="en-US" smtClean="0"/>
              <a:t>2026/5/1</a:t>
            </a:fld>
            <a:endParaRPr lang="zh-CN" altLang="en-US"/>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w="9525">
            <a:noFill/>
            <a:miter lim="800000"/>
          </a:ln>
        </p:spPr>
        <p:txBody>
          <a:bodyPr vert="horz" wrap="square" lIns="91440" tIns="45720" rIns="91440" bIns="45720" numCol="1" anchor="ctr" anchorCtr="0" compatLnSpc="1"/>
          <a:lstStyle>
            <a:lvl1pPr algn="ctr" eaLnBrk="1" hangingPunct="1">
              <a:buFont typeface="Arial" panose="020B0604020202020204" pitchFamily="34" charset="0"/>
              <a:buNone/>
              <a:defRPr sz="1200">
                <a:solidFill>
                  <a:srgbClr val="898989"/>
                </a:solidFill>
                <a:latin typeface="+mn-lt"/>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w="9525">
            <a:noFill/>
            <a:miter lim="800000"/>
          </a:ln>
        </p:spPr>
        <p:txBody>
          <a:bodyPr vert="horz" wrap="square" lIns="91440" tIns="45720" rIns="91440" bIns="45720" numCol="1" anchor="ctr" anchorCtr="0" compatLnSpc="1"/>
          <a:lstStyle>
            <a:lvl1pPr algn="r" eaLnBrk="1" hangingPunct="1">
              <a:buFont typeface="Arial" panose="020B0604020202020204" pitchFamily="34" charset="0"/>
              <a:buNone/>
              <a:defRPr sz="1200">
                <a:solidFill>
                  <a:srgbClr val="898989"/>
                </a:solidFill>
                <a:latin typeface="Calibri" panose="020F0502020204030204" pitchFamily="34" charset="0"/>
              </a:defRPr>
            </a:lvl1pPr>
          </a:lstStyle>
          <a:p>
            <a:fld id="{E36527EA-1303-4CBB-98E2-6791BA5E8F89}" type="slidenum">
              <a:rPr lang="zh-CN" altLang="en-US"/>
              <a:t>‹#›</a:t>
            </a:fld>
            <a:endParaRPr lang="en-US" altLang="zh-C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ransition spd="slow" advClick="0">
    <p:push dir="u"/>
  </p:transition>
  <p:txStyles>
    <p:titleStyle>
      <a:lvl1pPr algn="l" rtl="0" eaLnBrk="0" fontAlgn="base" hangingPunct="0">
        <a:lnSpc>
          <a:spcPct val="90000"/>
        </a:lnSpc>
        <a:spcBef>
          <a:spcPct val="0"/>
        </a:spcBef>
        <a:spcAft>
          <a:spcPct val="0"/>
        </a:spcAft>
        <a:defRPr sz="44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5pPr>
      <a:lvl6pPr marL="457200"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6pPr>
      <a:lvl7pPr marL="914400"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7pPr>
      <a:lvl8pPr marL="1371600"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8pPr>
      <a:lvl9pPr marL="1828800" algn="l" rtl="0" eaLnBrk="0" fontAlgn="base" hangingPunct="0">
        <a:lnSpc>
          <a:spcPct val="90000"/>
        </a:lnSpc>
        <a:spcBef>
          <a:spcPct val="0"/>
        </a:spcBef>
        <a:spcAft>
          <a:spcPct val="0"/>
        </a:spcAft>
        <a:defRPr sz="4400">
          <a:solidFill>
            <a:schemeClr val="tx1"/>
          </a:solidFill>
          <a:latin typeface="Calibri Light" panose="020F0302020204030204"/>
          <a:ea typeface="宋体"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2239625" cy="6858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2"/>
            <a:stretch>
              <a:fillRect t="-40000" b="-177460"/>
            </a:stretch>
          </a:blipFill>
        </p:spPr>
        <p:txBody>
          <a:bodyPr/>
          <a:lstStyle/>
          <a:p>
            <a:endParaRPr lang="zh-CN" altLang="en-US"/>
          </a:p>
        </p:txBody>
      </p:sp>
      <p:sp>
        <p:nvSpPr>
          <p:cNvPr id="3" name="Freeform 3"/>
          <p:cNvSpPr/>
          <p:nvPr/>
        </p:nvSpPr>
        <p:spPr>
          <a:xfrm>
            <a:off x="47458" y="5517453"/>
            <a:ext cx="4876800" cy="1594458"/>
          </a:xfrm>
          <a:custGeom>
            <a:avLst/>
            <a:gdLst/>
            <a:ahLst/>
            <a:cxnLst/>
            <a:rect l="l" t="t" r="r" b="b"/>
            <a:pathLst>
              <a:path w="7315200" h="2391687">
                <a:moveTo>
                  <a:pt x="0" y="0"/>
                </a:moveTo>
                <a:lnTo>
                  <a:pt x="7315200" y="0"/>
                </a:lnTo>
                <a:lnTo>
                  <a:pt x="7315200" y="2391687"/>
                </a:lnTo>
                <a:lnTo>
                  <a:pt x="0" y="239168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4" name="Freeform 4"/>
          <p:cNvSpPr/>
          <p:nvPr/>
        </p:nvSpPr>
        <p:spPr>
          <a:xfrm>
            <a:off x="5360289" y="5684837"/>
            <a:ext cx="4876800" cy="1630609"/>
          </a:xfrm>
          <a:custGeom>
            <a:avLst/>
            <a:gdLst/>
            <a:ahLst/>
            <a:cxnLst/>
            <a:rect l="l" t="t" r="r" b="b"/>
            <a:pathLst>
              <a:path w="7315200" h="2445914">
                <a:moveTo>
                  <a:pt x="0" y="0"/>
                </a:moveTo>
                <a:lnTo>
                  <a:pt x="7315200" y="0"/>
                </a:lnTo>
                <a:lnTo>
                  <a:pt x="7315200" y="2445914"/>
                </a:lnTo>
                <a:lnTo>
                  <a:pt x="0" y="2445914"/>
                </a:lnTo>
                <a:lnTo>
                  <a:pt x="0" y="0"/>
                </a:lnTo>
                <a:close/>
              </a:path>
            </a:pathLst>
          </a:custGeom>
          <a:blipFill>
            <a:blip>
              <a:alphaModFix amt="14000"/>
              <a:extLst>
                <a:ext uri="{96DAC541-7B7A-43D3-8B79-37D633B846F1}">
                  <asvg:svgBlip xmlns:asvg="http://schemas.microsoft.com/office/drawing/2016/SVG/main" r:embed="rId4"/>
                </a:ext>
              </a:extLst>
            </a:blip>
            <a:stretch>
              <a:fillRect/>
            </a:stretch>
          </a:blipFill>
        </p:spPr>
        <p:txBody>
          <a:bodyPr/>
          <a:lstStyle/>
          <a:p>
            <a:endParaRPr lang="zh-CN" altLang="en-US"/>
          </a:p>
        </p:txBody>
      </p:sp>
      <p:sp>
        <p:nvSpPr>
          <p:cNvPr id="5" name="Freeform 5"/>
          <p:cNvSpPr/>
          <p:nvPr/>
        </p:nvSpPr>
        <p:spPr>
          <a:xfrm rot="815943">
            <a:off x="9539218" y="-247553"/>
            <a:ext cx="2610648" cy="1866707"/>
          </a:xfrm>
          <a:custGeom>
            <a:avLst/>
            <a:gdLst/>
            <a:ahLst/>
            <a:cxnLst/>
            <a:rect l="l" t="t" r="r" b="b"/>
            <a:pathLst>
              <a:path w="3915972" h="2800060">
                <a:moveTo>
                  <a:pt x="0" y="0"/>
                </a:moveTo>
                <a:lnTo>
                  <a:pt x="3915972" y="0"/>
                </a:lnTo>
                <a:lnTo>
                  <a:pt x="3915972" y="2800060"/>
                </a:lnTo>
                <a:lnTo>
                  <a:pt x="0" y="28000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6" name="Freeform 6"/>
          <p:cNvSpPr/>
          <p:nvPr/>
        </p:nvSpPr>
        <p:spPr>
          <a:xfrm>
            <a:off x="10041489" y="6391299"/>
            <a:ext cx="1877602" cy="197148"/>
          </a:xfrm>
          <a:custGeom>
            <a:avLst/>
            <a:gdLst/>
            <a:ahLst/>
            <a:cxnLst/>
            <a:rect l="l" t="t" r="r" b="b"/>
            <a:pathLst>
              <a:path w="2816403" h="295722">
                <a:moveTo>
                  <a:pt x="0" y="0"/>
                </a:moveTo>
                <a:lnTo>
                  <a:pt x="2816403" y="0"/>
                </a:lnTo>
                <a:lnTo>
                  <a:pt x="2816403" y="295722"/>
                </a:lnTo>
                <a:lnTo>
                  <a:pt x="0" y="295722"/>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zh-CN" altLang="en-US"/>
          </a:p>
        </p:txBody>
      </p:sp>
      <p:grpSp>
        <p:nvGrpSpPr>
          <p:cNvPr id="8" name="Group 8"/>
          <p:cNvGrpSpPr/>
          <p:nvPr/>
        </p:nvGrpSpPr>
        <p:grpSpPr>
          <a:xfrm>
            <a:off x="1919359" y="5147933"/>
            <a:ext cx="2406153" cy="445720"/>
            <a:chOff x="0" y="0"/>
            <a:chExt cx="1094581" cy="202762"/>
          </a:xfrm>
        </p:grpSpPr>
        <p:sp>
          <p:nvSpPr>
            <p:cNvPr id="9" name="Freeform 9"/>
            <p:cNvSpPr/>
            <p:nvPr/>
          </p:nvSpPr>
          <p:spPr>
            <a:xfrm>
              <a:off x="0" y="0"/>
              <a:ext cx="1094581" cy="202762"/>
            </a:xfrm>
            <a:custGeom>
              <a:avLst/>
              <a:gdLst/>
              <a:ahLst/>
              <a:cxnLst/>
              <a:rect l="l" t="t" r="r" b="b"/>
              <a:pathLst>
                <a:path w="1094581" h="202762">
                  <a:moveTo>
                    <a:pt x="101381" y="0"/>
                  </a:moveTo>
                  <a:lnTo>
                    <a:pt x="993200" y="0"/>
                  </a:lnTo>
                  <a:cubicBezTo>
                    <a:pt x="1049191" y="0"/>
                    <a:pt x="1094581" y="45390"/>
                    <a:pt x="1094581" y="101381"/>
                  </a:cubicBezTo>
                  <a:lnTo>
                    <a:pt x="1094581" y="101381"/>
                  </a:lnTo>
                  <a:cubicBezTo>
                    <a:pt x="1094581" y="157372"/>
                    <a:pt x="1049191" y="202762"/>
                    <a:pt x="993200" y="202762"/>
                  </a:cubicBezTo>
                  <a:lnTo>
                    <a:pt x="101381" y="202762"/>
                  </a:lnTo>
                  <a:cubicBezTo>
                    <a:pt x="45390" y="202762"/>
                    <a:pt x="0" y="157372"/>
                    <a:pt x="0" y="101381"/>
                  </a:cubicBezTo>
                  <a:lnTo>
                    <a:pt x="0" y="101381"/>
                  </a:lnTo>
                  <a:cubicBezTo>
                    <a:pt x="0" y="45390"/>
                    <a:pt x="45390" y="0"/>
                    <a:pt x="101381" y="0"/>
                  </a:cubicBezTo>
                  <a:close/>
                </a:path>
              </a:pathLst>
            </a:custGeom>
            <a:solidFill>
              <a:srgbClr val="FFFFFF"/>
            </a:solidFill>
          </p:spPr>
          <p:txBody>
            <a:bodyPr/>
            <a:lstStyle/>
            <a:p>
              <a:endParaRPr lang="zh-CN" altLang="en-US"/>
            </a:p>
          </p:txBody>
        </p:sp>
        <p:sp>
          <p:nvSpPr>
            <p:cNvPr id="10" name="TextBox 10"/>
            <p:cNvSpPr txBox="1"/>
            <p:nvPr/>
          </p:nvSpPr>
          <p:spPr>
            <a:xfrm>
              <a:off x="0" y="-28575"/>
              <a:ext cx="1094581" cy="231337"/>
            </a:xfrm>
            <a:prstGeom prst="rect">
              <a:avLst/>
            </a:prstGeom>
          </p:spPr>
          <p:txBody>
            <a:bodyPr lIns="29411" tIns="29411" rIns="29411" bIns="29411" rtlCol="0" anchor="ctr"/>
            <a:lstStyle/>
            <a:p>
              <a:pPr algn="ctr">
                <a:lnSpc>
                  <a:spcPts val="2660"/>
                </a:lnSpc>
                <a:spcBef>
                  <a:spcPct val="0"/>
                </a:spcBef>
              </a:pPr>
              <a:endParaRPr sz="100"/>
            </a:p>
          </p:txBody>
        </p:sp>
      </p:grpSp>
      <p:grpSp>
        <p:nvGrpSpPr>
          <p:cNvPr id="12" name="Group 12"/>
          <p:cNvGrpSpPr/>
          <p:nvPr/>
        </p:nvGrpSpPr>
        <p:grpSpPr>
          <a:xfrm>
            <a:off x="6024533" y="5168888"/>
            <a:ext cx="2406153" cy="445720"/>
            <a:chOff x="0" y="0"/>
            <a:chExt cx="1094581" cy="202762"/>
          </a:xfrm>
        </p:grpSpPr>
        <p:sp>
          <p:nvSpPr>
            <p:cNvPr id="13" name="Freeform 13"/>
            <p:cNvSpPr/>
            <p:nvPr/>
          </p:nvSpPr>
          <p:spPr>
            <a:xfrm>
              <a:off x="0" y="0"/>
              <a:ext cx="1094581" cy="202762"/>
            </a:xfrm>
            <a:custGeom>
              <a:avLst/>
              <a:gdLst/>
              <a:ahLst/>
              <a:cxnLst/>
              <a:rect l="l" t="t" r="r" b="b"/>
              <a:pathLst>
                <a:path w="1094581" h="202762">
                  <a:moveTo>
                    <a:pt x="101381" y="0"/>
                  </a:moveTo>
                  <a:lnTo>
                    <a:pt x="993200" y="0"/>
                  </a:lnTo>
                  <a:cubicBezTo>
                    <a:pt x="1049191" y="0"/>
                    <a:pt x="1094581" y="45390"/>
                    <a:pt x="1094581" y="101381"/>
                  </a:cubicBezTo>
                  <a:lnTo>
                    <a:pt x="1094581" y="101381"/>
                  </a:lnTo>
                  <a:cubicBezTo>
                    <a:pt x="1094581" y="157372"/>
                    <a:pt x="1049191" y="202762"/>
                    <a:pt x="993200" y="202762"/>
                  </a:cubicBezTo>
                  <a:lnTo>
                    <a:pt x="101381" y="202762"/>
                  </a:lnTo>
                  <a:cubicBezTo>
                    <a:pt x="45390" y="202762"/>
                    <a:pt x="0" y="157372"/>
                    <a:pt x="0" y="101381"/>
                  </a:cubicBezTo>
                  <a:lnTo>
                    <a:pt x="0" y="101381"/>
                  </a:lnTo>
                  <a:cubicBezTo>
                    <a:pt x="0" y="45390"/>
                    <a:pt x="45390" y="0"/>
                    <a:pt x="101381" y="0"/>
                  </a:cubicBezTo>
                  <a:close/>
                </a:path>
              </a:pathLst>
            </a:custGeom>
            <a:solidFill>
              <a:srgbClr val="FFFFFF"/>
            </a:solidFill>
          </p:spPr>
          <p:txBody>
            <a:bodyPr/>
            <a:lstStyle/>
            <a:p>
              <a:endParaRPr lang="zh-CN" altLang="en-US"/>
            </a:p>
          </p:txBody>
        </p:sp>
        <p:sp>
          <p:nvSpPr>
            <p:cNvPr id="14" name="TextBox 14"/>
            <p:cNvSpPr txBox="1"/>
            <p:nvPr/>
          </p:nvSpPr>
          <p:spPr>
            <a:xfrm>
              <a:off x="0" y="-28575"/>
              <a:ext cx="1094581" cy="231337"/>
            </a:xfrm>
            <a:prstGeom prst="rect">
              <a:avLst/>
            </a:prstGeom>
          </p:spPr>
          <p:txBody>
            <a:bodyPr lIns="29411" tIns="29411" rIns="29411" bIns="29411" rtlCol="0" anchor="ctr"/>
            <a:lstStyle/>
            <a:p>
              <a:pPr algn="ctr">
                <a:lnSpc>
                  <a:spcPts val="2660"/>
                </a:lnSpc>
                <a:spcBef>
                  <a:spcPct val="0"/>
                </a:spcBef>
              </a:pPr>
              <a:endParaRPr sz="100"/>
            </a:p>
          </p:txBody>
        </p:sp>
      </p:grpSp>
      <p:sp>
        <p:nvSpPr>
          <p:cNvPr id="15" name="TextBox 15"/>
          <p:cNvSpPr txBox="1"/>
          <p:nvPr/>
        </p:nvSpPr>
        <p:spPr>
          <a:xfrm>
            <a:off x="1991995" y="5013325"/>
            <a:ext cx="2345690" cy="1098550"/>
          </a:xfrm>
          <a:prstGeom prst="rect">
            <a:avLst/>
          </a:prstGeom>
        </p:spPr>
        <p:txBody>
          <a:bodyPr wrap="square" lIns="0" tIns="0" rIns="0" bIns="0" rtlCol="0" anchor="t">
            <a:spAutoFit/>
          </a:bodyPr>
          <a:lstStyle/>
          <a:p>
            <a:pPr algn="ctr">
              <a:lnSpc>
                <a:spcPts val="4285"/>
              </a:lnSpc>
            </a:pPr>
            <a:r>
              <a:rPr lang="zh-CN" altLang="en-US" sz="1400" b="1"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rPr>
              <a:t>上海法硅数字技术有限公司</a:t>
            </a:r>
            <a:endParaRPr lang="en-US" altLang="zh-CN" sz="1400" b="1"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endParaRPr>
          </a:p>
          <a:p>
            <a:pPr algn="ctr">
              <a:lnSpc>
                <a:spcPts val="4285"/>
              </a:lnSpc>
            </a:pPr>
            <a:endParaRPr lang="en-US" altLang="zh-CN" sz="1400" b="1"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可画标题黑-简" panose="020B0500000000000000"/>
            </a:endParaRPr>
          </a:p>
        </p:txBody>
      </p:sp>
      <p:grpSp>
        <p:nvGrpSpPr>
          <p:cNvPr id="23" name="Group 23"/>
          <p:cNvGrpSpPr/>
          <p:nvPr/>
        </p:nvGrpSpPr>
        <p:grpSpPr>
          <a:xfrm>
            <a:off x="1991995" y="3404235"/>
            <a:ext cx="7094855" cy="200025"/>
            <a:chOff x="0" y="0"/>
            <a:chExt cx="2117298" cy="63918"/>
          </a:xfrm>
        </p:grpSpPr>
        <p:sp>
          <p:nvSpPr>
            <p:cNvPr id="24" name="Freeform 24"/>
            <p:cNvSpPr/>
            <p:nvPr/>
          </p:nvSpPr>
          <p:spPr>
            <a:xfrm>
              <a:off x="0" y="0"/>
              <a:ext cx="2117298" cy="63918"/>
            </a:xfrm>
            <a:custGeom>
              <a:avLst/>
              <a:gdLst/>
              <a:ahLst/>
              <a:cxnLst/>
              <a:rect l="l" t="t" r="r" b="b"/>
              <a:pathLst>
                <a:path w="2117298" h="63918">
                  <a:moveTo>
                    <a:pt x="31959" y="0"/>
                  </a:moveTo>
                  <a:lnTo>
                    <a:pt x="2085338" y="0"/>
                  </a:lnTo>
                  <a:cubicBezTo>
                    <a:pt x="2102989" y="0"/>
                    <a:pt x="2117298" y="14309"/>
                    <a:pt x="2117298" y="31959"/>
                  </a:cubicBezTo>
                  <a:lnTo>
                    <a:pt x="2117298" y="31959"/>
                  </a:lnTo>
                  <a:cubicBezTo>
                    <a:pt x="2117298" y="49610"/>
                    <a:pt x="2102989" y="63918"/>
                    <a:pt x="2085338" y="63918"/>
                  </a:cubicBezTo>
                  <a:lnTo>
                    <a:pt x="31959" y="63918"/>
                  </a:lnTo>
                  <a:cubicBezTo>
                    <a:pt x="14309" y="63918"/>
                    <a:pt x="0" y="49610"/>
                    <a:pt x="0" y="31959"/>
                  </a:cubicBezTo>
                  <a:lnTo>
                    <a:pt x="0" y="31959"/>
                  </a:lnTo>
                  <a:cubicBezTo>
                    <a:pt x="0" y="14309"/>
                    <a:pt x="14309" y="0"/>
                    <a:pt x="31959" y="0"/>
                  </a:cubicBezTo>
                  <a:close/>
                </a:path>
              </a:pathLst>
            </a:custGeom>
            <a:solidFill>
              <a:srgbClr val="3B64C9"/>
            </a:solidFill>
          </p:spPr>
          <p:txBody>
            <a:bodyPr/>
            <a:lstStyle/>
            <a:p>
              <a:endParaRPr lang="zh-CN" altLang="en-US"/>
            </a:p>
          </p:txBody>
        </p:sp>
        <p:sp>
          <p:nvSpPr>
            <p:cNvPr id="25" name="TextBox 25"/>
            <p:cNvSpPr txBox="1"/>
            <p:nvPr/>
          </p:nvSpPr>
          <p:spPr>
            <a:xfrm>
              <a:off x="0" y="-38100"/>
              <a:ext cx="2117298" cy="102018"/>
            </a:xfrm>
            <a:prstGeom prst="rect">
              <a:avLst/>
            </a:prstGeom>
          </p:spPr>
          <p:txBody>
            <a:bodyPr lIns="39200" tIns="39200" rIns="39200" bIns="39200" rtlCol="0" anchor="ctr"/>
            <a:lstStyle/>
            <a:p>
              <a:pPr algn="ctr">
                <a:lnSpc>
                  <a:spcPts val="2965"/>
                </a:lnSpc>
              </a:pPr>
              <a:endParaRPr sz="100"/>
            </a:p>
          </p:txBody>
        </p:sp>
      </p:grpSp>
      <p:sp>
        <p:nvSpPr>
          <p:cNvPr id="27" name="TextBox 27"/>
          <p:cNvSpPr txBox="1"/>
          <p:nvPr/>
        </p:nvSpPr>
        <p:spPr>
          <a:xfrm>
            <a:off x="2063765" y="2637011"/>
            <a:ext cx="6673366" cy="739775"/>
          </a:xfrm>
          <a:prstGeom prst="rect">
            <a:avLst/>
          </a:prstGeom>
        </p:spPr>
        <p:txBody>
          <a:bodyPr lIns="0" tIns="0" rIns="0" bIns="0" rtlCol="0" anchor="t">
            <a:spAutoFit/>
          </a:bodyPr>
          <a:lstStyle/>
          <a:p>
            <a:pPr algn="ctr">
              <a:lnSpc>
                <a:spcPts val="2885"/>
              </a:lnSpc>
            </a:pPr>
            <a:r>
              <a:rPr lang="en-US" altLang="zh-CN" sz="400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AI</a:t>
            </a:r>
            <a:r>
              <a:rPr lang="zh-CN" altLang="en-US" sz="400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垂类大模型基础设施提供商</a:t>
            </a:r>
          </a:p>
          <a:p>
            <a:pPr algn="ctr">
              <a:lnSpc>
                <a:spcPts val="2885"/>
              </a:lnSpc>
            </a:pPr>
            <a:endParaRPr lang="zh-CN" altLang="en-US" sz="4000" spc="156">
              <a:solidFill>
                <a:schemeClr val="bg1"/>
              </a:solidFill>
              <a:latin typeface="楷体" panose="02010609060101010101" pitchFamily="49" charset="-122"/>
              <a:ea typeface="楷体" panose="02010609060101010101" pitchFamily="49" charset="-122"/>
              <a:cs typeface="楷体" panose="02010609060101010101" pitchFamily="49" charset="-122"/>
              <a:sym typeface="+mn-ea"/>
            </a:endParaRPr>
          </a:p>
        </p:txBody>
      </p:sp>
      <p:pic>
        <p:nvPicPr>
          <p:cNvPr id="28" name="图片 2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63525" y="248285"/>
            <a:ext cx="1172210" cy="419735"/>
          </a:xfrm>
          <a:prstGeom prst="rect">
            <a:avLst/>
          </a:prstGeom>
        </p:spPr>
      </p:pic>
      <p:sp>
        <p:nvSpPr>
          <p:cNvPr id="30" name="TextBox 11"/>
          <p:cNvSpPr txBox="1"/>
          <p:nvPr/>
        </p:nvSpPr>
        <p:spPr>
          <a:xfrm>
            <a:off x="6168391" y="5013635"/>
            <a:ext cx="2175790" cy="549275"/>
          </a:xfrm>
          <a:prstGeom prst="rect">
            <a:avLst/>
          </a:prstGeom>
        </p:spPr>
        <p:txBody>
          <a:bodyPr lIns="0" tIns="0" rIns="0" bIns="0" rtlCol="0" anchor="t">
            <a:spAutoFit/>
          </a:bodyPr>
          <a:lstStyle/>
          <a:p>
            <a:pPr algn="ctr">
              <a:lnSpc>
                <a:spcPts val="4285"/>
              </a:lnSpc>
            </a:pPr>
            <a:r>
              <a:rPr lang="zh-CN" altLang="en-US" sz="1400" b="1"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可画标题黑-简" panose="020B0500000000000000"/>
              </a:rPr>
              <a:t>汇报人：</a:t>
            </a:r>
            <a:r>
              <a:rPr lang="zh-CN" altLang="en-US" sz="1400" b="1"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rPr>
              <a:t>花儒踪</a:t>
            </a:r>
            <a:endParaRPr lang="zh-CN" altLang="en-US" sz="1400" b="1" spc="214" dirty="0">
              <a:solidFill>
                <a:schemeClr val="tx1">
                  <a:lumMod val="75000"/>
                  <a:lumOff val="25000"/>
                </a:schemeClr>
              </a:solidFill>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EDD0C-A2D4-12E0-0EF3-873C57BFDC30}"/>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BDF66936-1949-3DEB-674D-C9544923D1DD}"/>
              </a:ext>
            </a:extLst>
          </p:cNvPr>
          <p:cNvSpPr txBox="1"/>
          <p:nvPr/>
        </p:nvSpPr>
        <p:spPr>
          <a:xfrm>
            <a:off x="13429" y="2132856"/>
            <a:ext cx="12178571" cy="958980"/>
          </a:xfrm>
          <a:prstGeom prst="rect">
            <a:avLst/>
          </a:prstGeom>
          <a:noFill/>
        </p:spPr>
        <p:txBody>
          <a:bodyPr wrap="square" rtlCol="0">
            <a:spAutoFit/>
          </a:bodyPr>
          <a:lstStyle/>
          <a:p>
            <a:pPr algn="ctr">
              <a:lnSpc>
                <a:spcPct val="130000"/>
              </a:lnSpc>
              <a:spcBef>
                <a:spcPts val="600"/>
              </a:spcBef>
            </a:pPr>
            <a:r>
              <a:rPr lang="en-US" sz="4800" kern="0" dirty="0">
                <a:latin typeface="微软雅黑" panose="020B0503020204020204" pitchFamily="34" charset="-122"/>
                <a:ea typeface="微软雅黑" panose="020B0503020204020204" pitchFamily="34" charset="-122"/>
                <a:cs typeface="+mn-ea"/>
                <a:sym typeface="+mn-lt"/>
              </a:rPr>
              <a:t>核心理念</a:t>
            </a:r>
            <a:endParaRPr lang="en-US" sz="32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3739166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66D01-4E97-B5E8-1E86-00E9B0815350}"/>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17E02D5E-48C1-3E2C-434B-FD04AEF11B8C}"/>
              </a:ext>
            </a:extLst>
          </p:cNvPr>
          <p:cNvSpPr txBox="1"/>
          <p:nvPr/>
        </p:nvSpPr>
        <p:spPr>
          <a:xfrm>
            <a:off x="-1775" y="692696"/>
            <a:ext cx="12178571" cy="959045"/>
          </a:xfrm>
          <a:prstGeom prst="rect">
            <a:avLst/>
          </a:prstGeom>
          <a:noFill/>
        </p:spPr>
        <p:txBody>
          <a:bodyPr wrap="square" rtlCol="0">
            <a:spAutoFit/>
          </a:bodyPr>
          <a:lstStyle/>
          <a:p>
            <a:pPr algn="ctr">
              <a:lnSpc>
                <a:spcPct val="130000"/>
              </a:lnSpc>
              <a:spcBef>
                <a:spcPts val="600"/>
              </a:spcBef>
            </a:pPr>
            <a:r>
              <a:rPr lang="zh-CN" altLang="en-US" sz="4800" kern="0" dirty="0">
                <a:latin typeface="微软雅黑" panose="020B0503020204020204" pitchFamily="34" charset="-122"/>
                <a:ea typeface="微软雅黑" panose="020B0503020204020204" pitchFamily="34" charset="-122"/>
                <a:cs typeface="+mn-ea"/>
                <a:sym typeface="+mn-lt"/>
              </a:rPr>
              <a:t>所有的核心技术都源自“深度”</a:t>
            </a:r>
            <a:endParaRPr lang="en-US" sz="3200" kern="0" dirty="0">
              <a:latin typeface="微软雅黑" panose="020B0503020204020204" pitchFamily="34" charset="-122"/>
              <a:ea typeface="微软雅黑" panose="020B0503020204020204" pitchFamily="34" charset="-122"/>
              <a:cs typeface="+mn-ea"/>
              <a:sym typeface="+mn-lt"/>
            </a:endParaRPr>
          </a:p>
        </p:txBody>
      </p:sp>
      <p:pic>
        <p:nvPicPr>
          <p:cNvPr id="1026" name="Picture 2" descr="三分钟了解海洋到底有多深？_深海">
            <a:extLst>
              <a:ext uri="{FF2B5EF4-FFF2-40B4-BE49-F238E27FC236}">
                <a16:creationId xmlns:a16="http://schemas.microsoft.com/office/drawing/2014/main" id="{9F14042F-1B35-6BF8-15EA-30A16F1B1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6033" y="1916832"/>
            <a:ext cx="3552056" cy="395721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8E8E096-D05C-940F-3F3E-AF158B54413C}"/>
              </a:ext>
            </a:extLst>
          </p:cNvPr>
          <p:cNvSpPr txBox="1"/>
          <p:nvPr/>
        </p:nvSpPr>
        <p:spPr>
          <a:xfrm>
            <a:off x="0" y="82511"/>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核心理念 </a:t>
            </a:r>
            <a:r>
              <a:rPr lang="en-US" altLang="zh-CN" sz="1400" kern="0" dirty="0">
                <a:latin typeface="微软雅黑" panose="020B0503020204020204" pitchFamily="34" charset="-122"/>
                <a:ea typeface="微软雅黑" panose="020B0503020204020204" pitchFamily="34" charset="-122"/>
                <a:cs typeface="+mn-ea"/>
                <a:sym typeface="+mn-lt"/>
              </a:rPr>
              <a:t>01</a:t>
            </a:r>
            <a:endParaRPr lang="en-US"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6556398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C488A-C63F-CD2B-6483-1F2AE4385CE1}"/>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3935285C-95B6-CC49-0DEB-7F7C4AF01F10}"/>
              </a:ext>
            </a:extLst>
          </p:cNvPr>
          <p:cNvSpPr txBox="1"/>
          <p:nvPr/>
        </p:nvSpPr>
        <p:spPr>
          <a:xfrm>
            <a:off x="-1775" y="692696"/>
            <a:ext cx="12178571" cy="958980"/>
          </a:xfrm>
          <a:prstGeom prst="rect">
            <a:avLst/>
          </a:prstGeom>
          <a:noFill/>
        </p:spPr>
        <p:txBody>
          <a:bodyPr wrap="square" rtlCol="0">
            <a:spAutoFit/>
          </a:bodyPr>
          <a:lstStyle/>
          <a:p>
            <a:pPr algn="ctr">
              <a:lnSpc>
                <a:spcPct val="130000"/>
              </a:lnSpc>
              <a:spcBef>
                <a:spcPts val="600"/>
              </a:spcBef>
            </a:pPr>
            <a:r>
              <a:rPr lang="en-US" sz="4800" kern="0" dirty="0">
                <a:latin typeface="微软雅黑" panose="020B0503020204020204" pitchFamily="34" charset="-122"/>
                <a:ea typeface="微软雅黑" panose="020B0503020204020204" pitchFamily="34" charset="-122"/>
                <a:cs typeface="+mn-ea"/>
                <a:sym typeface="+mn-lt"/>
              </a:rPr>
              <a:t>不要过度依</a:t>
            </a:r>
            <a:r>
              <a:rPr lang="zh-CN" altLang="en-US" sz="4800" kern="0" dirty="0">
                <a:latin typeface="微软雅黑" panose="020B0503020204020204" pitchFamily="34" charset="-122"/>
                <a:ea typeface="微软雅黑" panose="020B0503020204020204" pitchFamily="34" charset="-122"/>
                <a:cs typeface="+mn-ea"/>
                <a:sym typeface="+mn-lt"/>
              </a:rPr>
              <a:t>‘</a:t>
            </a:r>
            <a:r>
              <a:rPr lang="en-US" sz="4800" kern="0" dirty="0">
                <a:latin typeface="微软雅黑" panose="020B0503020204020204" pitchFamily="34" charset="-122"/>
                <a:ea typeface="微软雅黑" panose="020B0503020204020204" pitchFamily="34" charset="-122"/>
                <a:cs typeface="+mn-ea"/>
                <a:sym typeface="+mn-lt"/>
              </a:rPr>
              <a:t>赖独门绝活</a:t>
            </a:r>
            <a:r>
              <a:rPr lang="zh-CN" altLang="en-US" sz="4800" kern="0" dirty="0">
                <a:latin typeface="微软雅黑" panose="020B0503020204020204" pitchFamily="34" charset="-122"/>
                <a:ea typeface="微软雅黑" panose="020B0503020204020204" pitchFamily="34" charset="-122"/>
                <a:cs typeface="+mn-ea"/>
                <a:sym typeface="+mn-lt"/>
              </a:rPr>
              <a:t>’</a:t>
            </a:r>
            <a:endParaRPr lang="en-US" sz="3200" kern="0" dirty="0">
              <a:latin typeface="微软雅黑" panose="020B0503020204020204" pitchFamily="34" charset="-122"/>
              <a:ea typeface="微软雅黑" panose="020B0503020204020204" pitchFamily="34" charset="-122"/>
              <a:cs typeface="+mn-ea"/>
              <a:sym typeface="+mn-lt"/>
            </a:endParaRPr>
          </a:p>
        </p:txBody>
      </p:sp>
      <p:sp>
        <p:nvSpPr>
          <p:cNvPr id="2" name="TextBox 1">
            <a:extLst>
              <a:ext uri="{FF2B5EF4-FFF2-40B4-BE49-F238E27FC236}">
                <a16:creationId xmlns:a16="http://schemas.microsoft.com/office/drawing/2014/main" id="{FD71FE8C-17BD-AE06-BF45-63DA5E26ABBB}"/>
              </a:ext>
            </a:extLst>
          </p:cNvPr>
          <p:cNvSpPr txBox="1"/>
          <p:nvPr/>
        </p:nvSpPr>
        <p:spPr>
          <a:xfrm>
            <a:off x="0" y="82511"/>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核心理念 </a:t>
            </a:r>
            <a:r>
              <a:rPr lang="en-US" altLang="zh-CN" sz="1400" kern="0" dirty="0">
                <a:latin typeface="微软雅黑" panose="020B0503020204020204" pitchFamily="34" charset="-122"/>
                <a:ea typeface="微软雅黑" panose="020B0503020204020204" pitchFamily="34" charset="-122"/>
                <a:cs typeface="+mn-ea"/>
                <a:sym typeface="+mn-lt"/>
              </a:rPr>
              <a:t>02</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3" name="TextBox 2">
            <a:extLst>
              <a:ext uri="{FF2B5EF4-FFF2-40B4-BE49-F238E27FC236}">
                <a16:creationId xmlns:a16="http://schemas.microsoft.com/office/drawing/2014/main" id="{5A1A4288-8355-61F0-53DF-7D0F1294C020}"/>
              </a:ext>
            </a:extLst>
          </p:cNvPr>
          <p:cNvSpPr txBox="1"/>
          <p:nvPr/>
        </p:nvSpPr>
        <p:spPr>
          <a:xfrm>
            <a:off x="2423592" y="1916767"/>
            <a:ext cx="7704856" cy="702115"/>
          </a:xfrm>
          <a:prstGeom prst="rect">
            <a:avLst/>
          </a:prstGeom>
          <a:noFill/>
        </p:spPr>
        <p:txBody>
          <a:bodyPr wrap="square" rtlCol="0">
            <a:spAutoFit/>
          </a:bodyPr>
          <a:lstStyle/>
          <a:p>
            <a:pPr marL="285750" indent="-285750">
              <a:lnSpc>
                <a:spcPct val="130000"/>
              </a:lnSpc>
              <a:spcBef>
                <a:spcPts val="600"/>
              </a:spcBef>
              <a:buFont typeface="Arial" panose="020B0604020202020204" pitchFamily="34" charset="0"/>
              <a:buChar char="•"/>
            </a:pPr>
            <a:r>
              <a:rPr lang="zh-CN" altLang="en-US" sz="1400" kern="0" dirty="0">
                <a:latin typeface="微软雅黑" panose="020B0503020204020204" pitchFamily="34" charset="-122"/>
                <a:ea typeface="微软雅黑" panose="020B0503020204020204" pitchFamily="34" charset="-122"/>
                <a:cs typeface="+mn-ea"/>
                <a:sym typeface="+mn-lt"/>
              </a:rPr>
              <a:t>技术的领先永远都是暂时的</a:t>
            </a:r>
            <a:endParaRPr lang="en-US" altLang="zh-CN" sz="1400" kern="0" dirty="0">
              <a:latin typeface="微软雅黑" panose="020B0503020204020204" pitchFamily="34" charset="-122"/>
              <a:ea typeface="微软雅黑" panose="020B0503020204020204" pitchFamily="34" charset="-122"/>
              <a:cs typeface="+mn-ea"/>
              <a:sym typeface="+mn-lt"/>
            </a:endParaRPr>
          </a:p>
          <a:p>
            <a:pPr marL="285750" indent="-285750">
              <a:lnSpc>
                <a:spcPct val="130000"/>
              </a:lnSpc>
              <a:spcBef>
                <a:spcPts val="600"/>
              </a:spcBef>
              <a:buFont typeface="Arial" panose="020B0604020202020204" pitchFamily="34" charset="0"/>
              <a:buChar char="•"/>
            </a:pPr>
            <a:r>
              <a:rPr lang="zh-CN" altLang="en-US" sz="1400" kern="0" dirty="0">
                <a:latin typeface="微软雅黑" panose="020B0503020204020204" pitchFamily="34" charset="-122"/>
                <a:ea typeface="微软雅黑" panose="020B0503020204020204" pitchFamily="34" charset="-122"/>
                <a:cs typeface="+mn-ea"/>
                <a:sym typeface="+mn-lt"/>
              </a:rPr>
              <a:t>生态、系统、平台，尤其是数据更重要</a:t>
            </a:r>
            <a:endParaRPr lang="en-US"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7312983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4CF0-0652-3727-32C7-33A893C0D259}"/>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B96136F2-BAF3-2649-744B-C83488F20CDE}"/>
              </a:ext>
            </a:extLst>
          </p:cNvPr>
          <p:cNvSpPr txBox="1"/>
          <p:nvPr/>
        </p:nvSpPr>
        <p:spPr>
          <a:xfrm>
            <a:off x="-1775" y="692696"/>
            <a:ext cx="12178571" cy="958980"/>
          </a:xfrm>
          <a:prstGeom prst="rect">
            <a:avLst/>
          </a:prstGeom>
          <a:noFill/>
        </p:spPr>
        <p:txBody>
          <a:bodyPr wrap="square" rtlCol="0">
            <a:spAutoFit/>
          </a:bodyPr>
          <a:lstStyle/>
          <a:p>
            <a:pPr algn="ctr">
              <a:lnSpc>
                <a:spcPct val="130000"/>
              </a:lnSpc>
              <a:spcBef>
                <a:spcPts val="600"/>
              </a:spcBef>
            </a:pPr>
            <a:r>
              <a:rPr lang="en-US" sz="4800" kern="0" dirty="0">
                <a:latin typeface="微软雅黑" panose="020B0503020204020204" pitchFamily="34" charset="-122"/>
                <a:ea typeface="微软雅黑" panose="020B0503020204020204" pitchFamily="34" charset="-122"/>
                <a:cs typeface="+mn-ea"/>
                <a:sym typeface="+mn-lt"/>
              </a:rPr>
              <a:t>价值才是硬道理</a:t>
            </a:r>
            <a:endParaRPr lang="en-US" sz="3200" kern="0" dirty="0">
              <a:latin typeface="微软雅黑" panose="020B0503020204020204" pitchFamily="34" charset="-122"/>
              <a:ea typeface="微软雅黑" panose="020B0503020204020204" pitchFamily="34" charset="-122"/>
              <a:cs typeface="+mn-ea"/>
              <a:sym typeface="+mn-lt"/>
            </a:endParaRPr>
          </a:p>
        </p:txBody>
      </p:sp>
      <p:sp>
        <p:nvSpPr>
          <p:cNvPr id="2" name="TextBox 1">
            <a:extLst>
              <a:ext uri="{FF2B5EF4-FFF2-40B4-BE49-F238E27FC236}">
                <a16:creationId xmlns:a16="http://schemas.microsoft.com/office/drawing/2014/main" id="{BD3D1E8F-E51F-2F23-F274-6ADDA74710DE}"/>
              </a:ext>
            </a:extLst>
          </p:cNvPr>
          <p:cNvSpPr txBox="1"/>
          <p:nvPr/>
        </p:nvSpPr>
        <p:spPr>
          <a:xfrm>
            <a:off x="0" y="82511"/>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核心理念 </a:t>
            </a:r>
            <a:r>
              <a:rPr lang="en-US" altLang="zh-CN" sz="1400" kern="0" dirty="0">
                <a:latin typeface="微软雅黑" panose="020B0503020204020204" pitchFamily="34" charset="-122"/>
                <a:ea typeface="微软雅黑" panose="020B0503020204020204" pitchFamily="34" charset="-122"/>
                <a:cs typeface="+mn-ea"/>
                <a:sym typeface="+mn-lt"/>
              </a:rPr>
              <a:t>03</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3" name="TextBox 2">
            <a:extLst>
              <a:ext uri="{FF2B5EF4-FFF2-40B4-BE49-F238E27FC236}">
                <a16:creationId xmlns:a16="http://schemas.microsoft.com/office/drawing/2014/main" id="{00D696E9-6379-1D10-F259-2DA21989D561}"/>
              </a:ext>
            </a:extLst>
          </p:cNvPr>
          <p:cNvSpPr txBox="1"/>
          <p:nvPr/>
        </p:nvSpPr>
        <p:spPr>
          <a:xfrm>
            <a:off x="2423592" y="1916767"/>
            <a:ext cx="7704856" cy="1059136"/>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什么是价值？</a:t>
            </a:r>
            <a:endParaRPr lang="en-US" altLang="zh-CN" sz="1400" kern="0" dirty="0">
              <a:latin typeface="微软雅黑" panose="020B0503020204020204" pitchFamily="34" charset="-122"/>
              <a:ea typeface="微软雅黑" panose="020B0503020204020204" pitchFamily="34" charset="-122"/>
              <a:cs typeface="+mn-ea"/>
              <a:sym typeface="+mn-lt"/>
            </a:endParaRPr>
          </a:p>
          <a:p>
            <a:pPr marL="285750" indent="-285750">
              <a:lnSpc>
                <a:spcPct val="130000"/>
              </a:lnSpc>
              <a:spcBef>
                <a:spcPts val="600"/>
              </a:spcBef>
              <a:buFont typeface="Arial" panose="020B0604020202020204" pitchFamily="34" charset="0"/>
              <a:buChar char="•"/>
            </a:pPr>
            <a:r>
              <a:rPr lang="zh-CN" altLang="en-US" sz="1400" kern="0" dirty="0">
                <a:latin typeface="微软雅黑" panose="020B0503020204020204" pitchFamily="34" charset="-122"/>
                <a:ea typeface="微软雅黑" panose="020B0503020204020204" pitchFamily="34" charset="-122"/>
                <a:cs typeface="+mn-ea"/>
                <a:sym typeface="+mn-lt"/>
              </a:rPr>
              <a:t>解决用户的痛苦、提升用户的工作效率、工作质量，降低门槛</a:t>
            </a:r>
            <a:endParaRPr lang="en-US" altLang="zh-CN" sz="1400" kern="0" dirty="0">
              <a:latin typeface="微软雅黑" panose="020B0503020204020204" pitchFamily="34" charset="-122"/>
              <a:ea typeface="微软雅黑" panose="020B0503020204020204" pitchFamily="34" charset="-122"/>
              <a:cs typeface="+mn-ea"/>
              <a:sym typeface="+mn-lt"/>
            </a:endParaRPr>
          </a:p>
          <a:p>
            <a:pPr marL="285750" indent="-285750">
              <a:lnSpc>
                <a:spcPct val="130000"/>
              </a:lnSpc>
              <a:spcBef>
                <a:spcPts val="600"/>
              </a:spcBef>
              <a:buFont typeface="Arial" panose="020B0604020202020204" pitchFamily="34" charset="0"/>
              <a:buChar char="•"/>
            </a:pPr>
            <a:r>
              <a:rPr lang="zh-CN" altLang="en-US" sz="1400" kern="0" dirty="0">
                <a:latin typeface="微软雅黑" panose="020B0503020204020204" pitchFamily="34" charset="-122"/>
                <a:ea typeface="微软雅黑" panose="020B0503020204020204" pitchFamily="34" charset="-122"/>
                <a:cs typeface="+mn-ea"/>
                <a:sym typeface="+mn-lt"/>
              </a:rPr>
              <a:t>数据</a:t>
            </a:r>
            <a:endParaRPr lang="en-US"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75280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6A94B-DF93-3C83-268A-A760AACE59B5}"/>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DA9C2133-007F-AA25-972D-52B375DD18EE}"/>
              </a:ext>
            </a:extLst>
          </p:cNvPr>
          <p:cNvSpPr txBox="1"/>
          <p:nvPr/>
        </p:nvSpPr>
        <p:spPr>
          <a:xfrm>
            <a:off x="214312" y="123903"/>
            <a:ext cx="902811" cy="345094"/>
          </a:xfrm>
          <a:prstGeom prst="rect">
            <a:avLst/>
          </a:prstGeom>
          <a:noFill/>
        </p:spPr>
        <p:txBody>
          <a:bodyPr wrap="non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商业模式</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B7420559-1C61-3CFE-2086-19C96DCD8418}"/>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6" name="Oval 5">
            <a:extLst>
              <a:ext uri="{FF2B5EF4-FFF2-40B4-BE49-F238E27FC236}">
                <a16:creationId xmlns:a16="http://schemas.microsoft.com/office/drawing/2014/main" id="{DF7E4A75-C921-556D-A7CC-2C39FE18060A}"/>
              </a:ext>
            </a:extLst>
          </p:cNvPr>
          <p:cNvSpPr/>
          <p:nvPr/>
        </p:nvSpPr>
        <p:spPr bwMode="auto">
          <a:xfrm>
            <a:off x="4727848" y="1916832"/>
            <a:ext cx="1872208" cy="1872208"/>
          </a:xfrm>
          <a:prstGeom prst="ellipse">
            <a:avLst/>
          </a:prstGeom>
          <a:solidFill>
            <a:srgbClr val="FFFF00">
              <a:alpha val="50196"/>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18" name="TextBox 17">
            <a:extLst>
              <a:ext uri="{FF2B5EF4-FFF2-40B4-BE49-F238E27FC236}">
                <a16:creationId xmlns:a16="http://schemas.microsoft.com/office/drawing/2014/main" id="{B7A7D968-9E4D-34C2-DBEB-FA40E999C2D2}"/>
              </a:ext>
            </a:extLst>
          </p:cNvPr>
          <p:cNvSpPr txBox="1"/>
          <p:nvPr/>
        </p:nvSpPr>
        <p:spPr>
          <a:xfrm>
            <a:off x="4799856" y="2668270"/>
            <a:ext cx="1728192" cy="369332"/>
          </a:xfrm>
          <a:prstGeom prst="rect">
            <a:avLst/>
          </a:prstGeom>
          <a:noFill/>
        </p:spPr>
        <p:txBody>
          <a:bodyPr wrap="square" rtlCol="0">
            <a:spAutoFit/>
          </a:bodyPr>
          <a:lstStyle/>
          <a:p>
            <a:pPr algn="ctr"/>
            <a:r>
              <a:rPr lang="en-US"/>
              <a:t>平台</a:t>
            </a:r>
          </a:p>
        </p:txBody>
      </p:sp>
      <p:sp>
        <p:nvSpPr>
          <p:cNvPr id="27" name="Oval 26">
            <a:extLst>
              <a:ext uri="{FF2B5EF4-FFF2-40B4-BE49-F238E27FC236}">
                <a16:creationId xmlns:a16="http://schemas.microsoft.com/office/drawing/2014/main" id="{CC8369C1-ACFD-A0C5-0829-92EB058D6C1F}"/>
              </a:ext>
            </a:extLst>
          </p:cNvPr>
          <p:cNvSpPr/>
          <p:nvPr/>
        </p:nvSpPr>
        <p:spPr bwMode="auto">
          <a:xfrm>
            <a:off x="3935760" y="3212976"/>
            <a:ext cx="1872208" cy="1872208"/>
          </a:xfrm>
          <a:prstGeom prst="ellipse">
            <a:avLst/>
          </a:prstGeom>
          <a:solidFill>
            <a:srgbClr val="FFFF00">
              <a:alpha val="50196"/>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28" name="TextBox 27">
            <a:extLst>
              <a:ext uri="{FF2B5EF4-FFF2-40B4-BE49-F238E27FC236}">
                <a16:creationId xmlns:a16="http://schemas.microsoft.com/office/drawing/2014/main" id="{4EC02C2B-D7A6-CF51-EF1E-30DE907A2B0E}"/>
              </a:ext>
            </a:extLst>
          </p:cNvPr>
          <p:cNvSpPr txBox="1"/>
          <p:nvPr/>
        </p:nvSpPr>
        <p:spPr>
          <a:xfrm>
            <a:off x="4007768" y="3964414"/>
            <a:ext cx="1728192" cy="369332"/>
          </a:xfrm>
          <a:prstGeom prst="rect">
            <a:avLst/>
          </a:prstGeom>
          <a:noFill/>
        </p:spPr>
        <p:txBody>
          <a:bodyPr wrap="square" rtlCol="0">
            <a:spAutoFit/>
          </a:bodyPr>
          <a:lstStyle/>
          <a:p>
            <a:pPr algn="ctr"/>
            <a:r>
              <a:rPr lang="en-US"/>
              <a:t>数据</a:t>
            </a:r>
          </a:p>
        </p:txBody>
      </p:sp>
      <p:sp>
        <p:nvSpPr>
          <p:cNvPr id="30" name="Oval 29">
            <a:extLst>
              <a:ext uri="{FF2B5EF4-FFF2-40B4-BE49-F238E27FC236}">
                <a16:creationId xmlns:a16="http://schemas.microsoft.com/office/drawing/2014/main" id="{B1FC71E7-4543-3B55-C0CF-FE288B78D0B5}"/>
              </a:ext>
            </a:extLst>
          </p:cNvPr>
          <p:cNvSpPr/>
          <p:nvPr/>
        </p:nvSpPr>
        <p:spPr bwMode="auto">
          <a:xfrm>
            <a:off x="5447928" y="3228655"/>
            <a:ext cx="1872208" cy="1872208"/>
          </a:xfrm>
          <a:prstGeom prst="ellipse">
            <a:avLst/>
          </a:prstGeom>
          <a:solidFill>
            <a:srgbClr val="FFFF00">
              <a:alpha val="50196"/>
            </a:srgb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31" name="TextBox 30">
            <a:extLst>
              <a:ext uri="{FF2B5EF4-FFF2-40B4-BE49-F238E27FC236}">
                <a16:creationId xmlns:a16="http://schemas.microsoft.com/office/drawing/2014/main" id="{0073E084-5EA7-3D94-9380-4B2598437B8D}"/>
              </a:ext>
            </a:extLst>
          </p:cNvPr>
          <p:cNvSpPr txBox="1"/>
          <p:nvPr/>
        </p:nvSpPr>
        <p:spPr>
          <a:xfrm>
            <a:off x="5519936" y="3980093"/>
            <a:ext cx="1728192" cy="369332"/>
          </a:xfrm>
          <a:prstGeom prst="rect">
            <a:avLst/>
          </a:prstGeom>
          <a:noFill/>
        </p:spPr>
        <p:txBody>
          <a:bodyPr wrap="square" rtlCol="0">
            <a:spAutoFit/>
          </a:bodyPr>
          <a:lstStyle/>
          <a:p>
            <a:pPr algn="ctr"/>
            <a:r>
              <a:rPr lang="en-US"/>
              <a:t>咨询</a:t>
            </a:r>
          </a:p>
        </p:txBody>
      </p:sp>
    </p:spTree>
    <p:extLst>
      <p:ext uri="{BB962C8B-B14F-4D97-AF65-F5344CB8AC3E}">
        <p14:creationId xmlns:p14="http://schemas.microsoft.com/office/powerpoint/2010/main" val="33302025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7E4B-A168-2913-6EAD-1F2ED2B0A741}"/>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A68E2ECD-CC6C-0138-010D-5DB189555D30}"/>
              </a:ext>
            </a:extLst>
          </p:cNvPr>
          <p:cNvSpPr txBox="1"/>
          <p:nvPr/>
        </p:nvSpPr>
        <p:spPr>
          <a:xfrm>
            <a:off x="214312" y="123903"/>
            <a:ext cx="1261884" cy="345094"/>
          </a:xfrm>
          <a:prstGeom prst="rect">
            <a:avLst/>
          </a:prstGeom>
          <a:noFill/>
        </p:spPr>
        <p:txBody>
          <a:bodyPr wrap="non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平台主要功能</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00D24A34-4F1B-EB6B-C91C-F092950F90D5}"/>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Rounded Rectangle 1">
            <a:extLst>
              <a:ext uri="{FF2B5EF4-FFF2-40B4-BE49-F238E27FC236}">
                <a16:creationId xmlns:a16="http://schemas.microsoft.com/office/drawing/2014/main" id="{283208AC-6B21-652C-6DBA-9D6A7E518F10}"/>
              </a:ext>
            </a:extLst>
          </p:cNvPr>
          <p:cNvSpPr/>
          <p:nvPr/>
        </p:nvSpPr>
        <p:spPr bwMode="auto">
          <a:xfrm>
            <a:off x="1135234" y="980728"/>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智能搜索</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3" name="Rounded Rectangle 2">
            <a:extLst>
              <a:ext uri="{FF2B5EF4-FFF2-40B4-BE49-F238E27FC236}">
                <a16:creationId xmlns:a16="http://schemas.microsoft.com/office/drawing/2014/main" id="{6E369384-88B3-E9DC-932F-369B976F9AF4}"/>
              </a:ext>
            </a:extLst>
          </p:cNvPr>
          <p:cNvSpPr/>
          <p:nvPr/>
        </p:nvSpPr>
        <p:spPr bwMode="auto">
          <a:xfrm>
            <a:off x="1135234" y="1569180"/>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2</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智能问答</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Rounded Rectangle 3">
            <a:extLst>
              <a:ext uri="{FF2B5EF4-FFF2-40B4-BE49-F238E27FC236}">
                <a16:creationId xmlns:a16="http://schemas.microsoft.com/office/drawing/2014/main" id="{F1D8F507-CDBD-2944-9364-0B92897E305F}"/>
              </a:ext>
            </a:extLst>
          </p:cNvPr>
          <p:cNvSpPr/>
          <p:nvPr/>
        </p:nvSpPr>
        <p:spPr bwMode="auto">
          <a:xfrm>
            <a:off x="1135234" y="2157632"/>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3.</a:t>
            </a:r>
            <a:r>
              <a:rPr lang="zh-CN" altLang="en-US"/>
              <a:t> 智能订阅</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Rounded Rectangle 4">
            <a:extLst>
              <a:ext uri="{FF2B5EF4-FFF2-40B4-BE49-F238E27FC236}">
                <a16:creationId xmlns:a16="http://schemas.microsoft.com/office/drawing/2014/main" id="{F670570B-A999-599D-CD82-05A75A2F4838}"/>
              </a:ext>
            </a:extLst>
          </p:cNvPr>
          <p:cNvSpPr/>
          <p:nvPr/>
        </p:nvSpPr>
        <p:spPr bwMode="auto">
          <a:xfrm>
            <a:off x="1135234" y="2746084"/>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智能编写</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Rounded Rectangle 6">
            <a:extLst>
              <a:ext uri="{FF2B5EF4-FFF2-40B4-BE49-F238E27FC236}">
                <a16:creationId xmlns:a16="http://schemas.microsoft.com/office/drawing/2014/main" id="{038CDADE-A3A1-8D16-CA50-641667422297}"/>
              </a:ext>
            </a:extLst>
          </p:cNvPr>
          <p:cNvSpPr/>
          <p:nvPr/>
        </p:nvSpPr>
        <p:spPr bwMode="auto">
          <a:xfrm>
            <a:off x="1135234" y="3334536"/>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5.</a:t>
            </a:r>
            <a:r>
              <a:rPr lang="zh-CN" altLang="en-US"/>
              <a:t> 标准体系</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ounded Rectangle 7">
            <a:extLst>
              <a:ext uri="{FF2B5EF4-FFF2-40B4-BE49-F238E27FC236}">
                <a16:creationId xmlns:a16="http://schemas.microsoft.com/office/drawing/2014/main" id="{03E6F1D4-BCB3-8F4B-14E8-4D10A403D340}"/>
              </a:ext>
            </a:extLst>
          </p:cNvPr>
          <p:cNvSpPr/>
          <p:nvPr/>
        </p:nvSpPr>
        <p:spPr bwMode="auto">
          <a:xfrm>
            <a:off x="1135234" y="3922988"/>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6.</a:t>
            </a:r>
            <a:r>
              <a:rPr lang="zh-CN" altLang="en-US"/>
              <a:t> 科研通</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Rounded Rectangle 8">
            <a:extLst>
              <a:ext uri="{FF2B5EF4-FFF2-40B4-BE49-F238E27FC236}">
                <a16:creationId xmlns:a16="http://schemas.microsoft.com/office/drawing/2014/main" id="{B340F6E1-AD04-F989-00CE-D478009921A6}"/>
              </a:ext>
            </a:extLst>
          </p:cNvPr>
          <p:cNvSpPr/>
          <p:nvPr/>
        </p:nvSpPr>
        <p:spPr bwMode="auto">
          <a:xfrm>
            <a:off x="1135234" y="4511440"/>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7.</a:t>
            </a:r>
            <a:r>
              <a:rPr lang="zh-CN" altLang="en-US"/>
              <a:t> 标准查新</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Rounded Rectangle 9">
            <a:extLst>
              <a:ext uri="{FF2B5EF4-FFF2-40B4-BE49-F238E27FC236}">
                <a16:creationId xmlns:a16="http://schemas.microsoft.com/office/drawing/2014/main" id="{6C540FD9-26D3-9EF7-5658-DB8C5400B600}"/>
              </a:ext>
            </a:extLst>
          </p:cNvPr>
          <p:cNvSpPr/>
          <p:nvPr/>
        </p:nvSpPr>
        <p:spPr bwMode="auto">
          <a:xfrm>
            <a:off x="1135234" y="5090970"/>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8.</a:t>
            </a:r>
            <a:r>
              <a:rPr lang="zh-CN" altLang="en-US"/>
              <a:t> 标准查重</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ounded Rectangle 10">
            <a:extLst>
              <a:ext uri="{FF2B5EF4-FFF2-40B4-BE49-F238E27FC236}">
                <a16:creationId xmlns:a16="http://schemas.microsoft.com/office/drawing/2014/main" id="{C55CEC53-FBF8-7CD4-E9F1-89D6E415E982}"/>
              </a:ext>
            </a:extLst>
          </p:cNvPr>
          <p:cNvSpPr/>
          <p:nvPr/>
        </p:nvSpPr>
        <p:spPr bwMode="auto">
          <a:xfrm>
            <a:off x="5015880" y="980728"/>
            <a:ext cx="3456384" cy="432048"/>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贯标体系</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2" name="Rounded Rectangle 11">
            <a:extLst>
              <a:ext uri="{FF2B5EF4-FFF2-40B4-BE49-F238E27FC236}">
                <a16:creationId xmlns:a16="http://schemas.microsoft.com/office/drawing/2014/main" id="{B9DBC257-C2A9-BBA1-A434-27E5DB5DC07F}"/>
              </a:ext>
            </a:extLst>
          </p:cNvPr>
          <p:cNvSpPr/>
          <p:nvPr/>
        </p:nvSpPr>
        <p:spPr bwMode="auto">
          <a:xfrm>
            <a:off x="5015880" y="1569180"/>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标准情报</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Rounded Rectangle 12">
            <a:extLst>
              <a:ext uri="{FF2B5EF4-FFF2-40B4-BE49-F238E27FC236}">
                <a16:creationId xmlns:a16="http://schemas.microsoft.com/office/drawing/2014/main" id="{BB172D8B-D29F-9094-2673-A8C81E22B4E4}"/>
              </a:ext>
            </a:extLst>
          </p:cNvPr>
          <p:cNvSpPr/>
          <p:nvPr/>
        </p:nvSpPr>
        <p:spPr bwMode="auto">
          <a:xfrm>
            <a:off x="5015880" y="2157632"/>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百事通（标准百科）</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Rounded Rectangle 13">
            <a:extLst>
              <a:ext uri="{FF2B5EF4-FFF2-40B4-BE49-F238E27FC236}">
                <a16:creationId xmlns:a16="http://schemas.microsoft.com/office/drawing/2014/main" id="{84D1CBF8-E3E1-C02D-F43D-D427127638EE}"/>
              </a:ext>
            </a:extLst>
          </p:cNvPr>
          <p:cNvSpPr/>
          <p:nvPr/>
        </p:nvSpPr>
        <p:spPr bwMode="auto">
          <a:xfrm>
            <a:off x="5015880" y="2746084"/>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12. </a:t>
            </a:r>
            <a:r>
              <a:rPr lang="zh-CN" altLang="en-US"/>
              <a:t>产品通（产品标准百科）</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Rounded Rectangle 19">
            <a:extLst>
              <a:ext uri="{FF2B5EF4-FFF2-40B4-BE49-F238E27FC236}">
                <a16:creationId xmlns:a16="http://schemas.microsoft.com/office/drawing/2014/main" id="{C7FB9400-12B6-9063-749F-19B72F451353}"/>
              </a:ext>
            </a:extLst>
          </p:cNvPr>
          <p:cNvSpPr/>
          <p:nvPr/>
        </p:nvSpPr>
        <p:spPr bwMode="auto">
          <a:xfrm>
            <a:off x="5015880" y="3334536"/>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13.</a:t>
            </a:r>
            <a:r>
              <a:rPr lang="zh-CN" altLang="en-US"/>
              <a:t> 主题标准百科</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Rounded Rectangle 20">
            <a:extLst>
              <a:ext uri="{FF2B5EF4-FFF2-40B4-BE49-F238E27FC236}">
                <a16:creationId xmlns:a16="http://schemas.microsoft.com/office/drawing/2014/main" id="{09ECA36E-85C5-5CD8-F7EA-5445A04D4021}"/>
              </a:ext>
            </a:extLst>
          </p:cNvPr>
          <p:cNvSpPr/>
          <p:nvPr/>
        </p:nvSpPr>
        <p:spPr bwMode="auto">
          <a:xfrm>
            <a:off x="5015880" y="3922988"/>
            <a:ext cx="3456384"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14.</a:t>
            </a:r>
            <a:r>
              <a:rPr lang="zh-CN" altLang="en-US"/>
              <a:t> </a:t>
            </a:r>
            <a:r>
              <a:rPr lang="en-US" altLang="zh-CN"/>
              <a:t>…</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Rounded Rectangle 5">
            <a:extLst>
              <a:ext uri="{FF2B5EF4-FFF2-40B4-BE49-F238E27FC236}">
                <a16:creationId xmlns:a16="http://schemas.microsoft.com/office/drawing/2014/main" id="{AA8A26BA-3F67-3D95-C683-CE117BF3F225}"/>
              </a:ext>
            </a:extLst>
          </p:cNvPr>
          <p:cNvSpPr/>
          <p:nvPr/>
        </p:nvSpPr>
        <p:spPr bwMode="auto">
          <a:xfrm>
            <a:off x="8616280" y="980728"/>
            <a:ext cx="2160240" cy="1080120"/>
          </a:xfrm>
          <a:prstGeom prst="roundRect">
            <a:avLst>
              <a:gd name="adj" fmla="val 9022"/>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zh-CN" altLang="en-US" sz="1200"/>
              <a:t>写标准</a:t>
            </a:r>
            <a:endParaRPr lang="en-US" altLang="zh-CN" sz="1200"/>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zh-CN" altLang="en-US" sz="1200"/>
              <a:t>审标准</a:t>
            </a:r>
            <a:endParaRPr lang="en-US" altLang="zh-CN" sz="1200"/>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管标准</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用标准</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评标准</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Rounded Rectangle 14">
            <a:extLst>
              <a:ext uri="{FF2B5EF4-FFF2-40B4-BE49-F238E27FC236}">
                <a16:creationId xmlns:a16="http://schemas.microsoft.com/office/drawing/2014/main" id="{2F326DE7-90D0-D4F7-5EBB-14E5BFE606B8}"/>
              </a:ext>
            </a:extLst>
          </p:cNvPr>
          <p:cNvSpPr/>
          <p:nvPr/>
        </p:nvSpPr>
        <p:spPr bwMode="auto">
          <a:xfrm>
            <a:off x="5951984" y="4622918"/>
            <a:ext cx="2160240" cy="1398370"/>
          </a:xfrm>
          <a:prstGeom prst="roundRect">
            <a:avLst>
              <a:gd name="adj" fmla="val 9022"/>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R="0" algn="l" defTabSz="914400" rtl="0" eaLnBrk="1" fontAlgn="base" latinLnBrk="0" hangingPunct="1">
              <a:lnSpc>
                <a:spcPct val="100000"/>
              </a:lnSpc>
              <a:spcBef>
                <a:spcPct val="0"/>
              </a:spcBef>
              <a:spcAft>
                <a:spcPct val="0"/>
              </a:spcAft>
              <a:buClrTx/>
              <a:buSzTx/>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情报</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zh-CN" altLang="en-US" sz="1200"/>
              <a:t>阶段数据</a:t>
            </a:r>
            <a:endParaRPr lang="en-US" altLang="zh-CN" sz="1200"/>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行业动态</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zh-CN" altLang="en-US" sz="1200"/>
              <a:t>技术委员会信息</a:t>
            </a:r>
            <a:endParaRPr lang="en-US" altLang="zh-CN" sz="1200"/>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en-US" sz="1200"/>
              <a:t>…</a:t>
            </a: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en-US" sz="1200"/>
              <a:t>路路</a:t>
            </a:r>
            <a:r>
              <a:rPr lang="zh-CN" altLang="en-US" sz="1200"/>
              <a:t>：原型，</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Rounded Rectangle 15">
            <a:extLst>
              <a:ext uri="{FF2B5EF4-FFF2-40B4-BE49-F238E27FC236}">
                <a16:creationId xmlns:a16="http://schemas.microsoft.com/office/drawing/2014/main" id="{31D7EC5F-6640-A156-5690-6CF4DD5A1604}"/>
              </a:ext>
            </a:extLst>
          </p:cNvPr>
          <p:cNvSpPr/>
          <p:nvPr/>
        </p:nvSpPr>
        <p:spPr bwMode="auto">
          <a:xfrm>
            <a:off x="8400256" y="4607809"/>
            <a:ext cx="2656510" cy="1398370"/>
          </a:xfrm>
          <a:prstGeom prst="roundRect">
            <a:avLst>
              <a:gd name="adj" fmla="val 9022"/>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R="0" algn="l" defTabSz="914400" rtl="0" eaLnBrk="1" fontAlgn="base" latinLnBrk="0" hangingPunct="1">
              <a:lnSpc>
                <a:spcPct val="100000"/>
              </a:lnSpc>
              <a:spcBef>
                <a:spcPct val="0"/>
              </a:spcBef>
              <a:spcAft>
                <a:spcPct val="0"/>
              </a:spcAft>
              <a:buClrTx/>
              <a:buSzTx/>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获取情报</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lang="zh-CN" altLang="en-US" sz="1200"/>
              <a:t>简单的情报可以手工</a:t>
            </a:r>
            <a:endParaRPr lang="en-US" altLang="zh-CN" sz="1200"/>
          </a:p>
          <a:p>
            <a:pPr marL="228600" marR="0" indent="-228600" algn="l" defTabSz="914400" rtl="0" eaLnBrk="1" fontAlgn="base" latinLnBrk="0" hangingPunct="1">
              <a:lnSpc>
                <a:spcPct val="100000"/>
              </a:lnSpc>
              <a:spcBef>
                <a:spcPct val="0"/>
              </a:spcBef>
              <a:spcAft>
                <a:spcPct val="0"/>
              </a:spcAft>
              <a:buClrTx/>
              <a:buSzTx/>
              <a:buFont typeface="+mj-lt"/>
              <a:buAutoNum type="arabicPeriod"/>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复杂的</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、很重要的，爬虫</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Rounded Rectangle 16">
            <a:extLst>
              <a:ext uri="{FF2B5EF4-FFF2-40B4-BE49-F238E27FC236}">
                <a16:creationId xmlns:a16="http://schemas.microsoft.com/office/drawing/2014/main" id="{D0D8C7C3-AC3D-4755-DBC5-91EAAD78B4CD}"/>
              </a:ext>
            </a:extLst>
          </p:cNvPr>
          <p:cNvSpPr/>
          <p:nvPr/>
        </p:nvSpPr>
        <p:spPr bwMode="auto">
          <a:xfrm>
            <a:off x="8648391" y="2388787"/>
            <a:ext cx="2160240" cy="1080120"/>
          </a:xfrm>
          <a:prstGeom prst="roundRect">
            <a:avLst>
              <a:gd name="adj" fmla="val 9022"/>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R="0" algn="l" defTabSz="914400" rtl="0" eaLnBrk="1" fontAlgn="base" latinLnBrk="0" hangingPunct="1">
              <a:lnSpc>
                <a:spcPct val="100000"/>
              </a:lnSpc>
              <a:spcBef>
                <a:spcPct val="0"/>
              </a:spcBef>
              <a:spcAft>
                <a:spcPct val="0"/>
              </a:spcAft>
              <a:buClrTx/>
              <a:buSzTx/>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Claude Code Agent</a:t>
            </a:r>
          </a:p>
          <a:p>
            <a:pPr marR="0" algn="l" defTabSz="914400" rtl="0" eaLnBrk="1" fontAlgn="base" latinLnBrk="0" hangingPunct="1">
              <a:lnSpc>
                <a:spcPct val="100000"/>
              </a:lnSpc>
              <a:spcBef>
                <a:spcPct val="0"/>
              </a:spcBef>
              <a:spcAft>
                <a:spcPct val="0"/>
              </a:spcAft>
              <a:buClrTx/>
              <a:buSzTx/>
            </a:pPr>
            <a:r>
              <a:rPr lang="en-US" sz="1200"/>
              <a:t>Claude </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603000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A85B6-E2E2-540B-8B00-5134536F5AA9}"/>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5922DD97-2C7D-81F4-F084-92774055F1C1}"/>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应用 </a:t>
            </a:r>
            <a:r>
              <a:rPr lang="en-US" altLang="zh-CN" sz="1400" kern="0" dirty="0">
                <a:latin typeface="微软雅黑" panose="020B0503020204020204" pitchFamily="34" charset="-122"/>
                <a:ea typeface="微软雅黑" panose="020B0503020204020204" pitchFamily="34" charset="-122"/>
                <a:cs typeface="+mn-ea"/>
                <a:sym typeface="+mn-lt"/>
              </a:rPr>
              <a:t>01–</a:t>
            </a:r>
            <a:r>
              <a:rPr lang="zh-CN" altLang="en-US" sz="1400" kern="0" dirty="0">
                <a:latin typeface="微软雅黑" panose="020B0503020204020204" pitchFamily="34" charset="-122"/>
                <a:ea typeface="微软雅黑" panose="020B0503020204020204" pitchFamily="34" charset="-122"/>
                <a:cs typeface="+mn-ea"/>
                <a:sym typeface="+mn-lt"/>
              </a:rPr>
              <a:t> 标准查新</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7A01A7AA-D5D2-4880-9859-0E144DC47D81}"/>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AD72C898-294B-DB08-3D8E-F7CB408B6AC8}"/>
              </a:ext>
            </a:extLst>
          </p:cNvPr>
          <p:cNvSpPr txBox="1"/>
          <p:nvPr/>
        </p:nvSpPr>
        <p:spPr>
          <a:xfrm>
            <a:off x="598872" y="836712"/>
            <a:ext cx="6577248" cy="3447482"/>
          </a:xfrm>
          <a:prstGeom prst="rect">
            <a:avLst/>
          </a:prstGeom>
          <a:noFill/>
        </p:spPr>
        <p:txBody>
          <a:bodyPr wrap="square" rtlCol="0">
            <a:spAutoFit/>
          </a:bodyPr>
          <a:lstStyle/>
          <a:p>
            <a:pPr>
              <a:lnSpc>
                <a:spcPct val="130000"/>
              </a:lnSpc>
              <a:spcBef>
                <a:spcPts val="600"/>
              </a:spcBef>
            </a:pPr>
            <a:r>
              <a:rPr lang="zh-CN" altLang="en-US" sz="2000" kern="0" dirty="0">
                <a:latin typeface="微软雅黑" panose="020B0503020204020204" pitchFamily="34" charset="-122"/>
                <a:ea typeface="微软雅黑" panose="020B0503020204020204" pitchFamily="34" charset="-122"/>
                <a:cs typeface="+mn-ea"/>
                <a:sym typeface="+mn-lt"/>
              </a:rPr>
              <a:t>标准查新</a:t>
            </a:r>
            <a:endParaRPr lang="en-US" altLang="zh-CN" sz="20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在写标准前，需要确定该标准是否已经存在，是不是有必要写</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用户描述需要写的标准</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通过智能搜索，产生一个查新报告</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最好不要‘全自动’，一定要有人工参与，一方面提升报告质量，另一方面价钱可以高一些</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按照内容，有些可能已经存在，有些不存在</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编写标准是一个持续的过程，我们应考虑为客户提供一个“编写标准平台”，在这个平台上，写标准时，会订阅相应的情报。平台会自动产生：情报周报、情报月报。</a:t>
            </a:r>
            <a:endParaRPr lang="en-US" sz="10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5696807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4B2C2-E31C-F207-2F95-109791908994}"/>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E8EFA5C1-37AE-31DE-3EFA-CFB7DE7317BD}"/>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应用 </a:t>
            </a:r>
            <a:r>
              <a:rPr lang="en-US" altLang="zh-CN" sz="1400" kern="0" dirty="0">
                <a:latin typeface="微软雅黑" panose="020B0503020204020204" pitchFamily="34" charset="-122"/>
                <a:ea typeface="微软雅黑" panose="020B0503020204020204" pitchFamily="34" charset="-122"/>
                <a:cs typeface="+mn-ea"/>
                <a:sym typeface="+mn-lt"/>
              </a:rPr>
              <a:t>01–</a:t>
            </a:r>
            <a:r>
              <a:rPr lang="zh-CN" altLang="en-US" sz="1400" kern="0" dirty="0">
                <a:latin typeface="微软雅黑" panose="020B0503020204020204" pitchFamily="34" charset="-122"/>
                <a:ea typeface="微软雅黑" panose="020B0503020204020204" pitchFamily="34" charset="-122"/>
                <a:cs typeface="+mn-ea"/>
                <a:sym typeface="+mn-lt"/>
              </a:rPr>
              <a:t> 标准查新</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3C51FA68-736B-4813-9D00-CA00681D5815}"/>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68AF13AE-78AD-D75A-C395-8C31404181CF}"/>
              </a:ext>
            </a:extLst>
          </p:cNvPr>
          <p:cNvSpPr txBox="1"/>
          <p:nvPr/>
        </p:nvSpPr>
        <p:spPr>
          <a:xfrm>
            <a:off x="598872" y="836712"/>
            <a:ext cx="10994256" cy="1416157"/>
          </a:xfrm>
          <a:prstGeom prst="rect">
            <a:avLst/>
          </a:prstGeom>
          <a:noFill/>
        </p:spPr>
        <p:txBody>
          <a:bodyPr wrap="square" rtlCol="0">
            <a:spAutoFit/>
          </a:bodyPr>
          <a:lstStyle/>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如何做？</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提示语</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en-US" altLang="zh-CN" sz="1400" kern="0" dirty="0">
                <a:latin typeface="微软雅黑" panose="020B0503020204020204" pitchFamily="34" charset="-122"/>
                <a:ea typeface="微软雅黑" panose="020B0503020204020204" pitchFamily="34" charset="-122"/>
                <a:cs typeface="+mn-ea"/>
                <a:sym typeface="+mn-lt"/>
              </a:rPr>
              <a:t>RAG</a:t>
            </a: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数据</a:t>
            </a:r>
            <a:endParaRPr lang="en-US" altLang="zh-CN"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2787706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AD600-7DC2-2E76-AEDC-DFEF9F2AA7C9}"/>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7AC4375B-0742-3F4B-E5BA-E8F7CDB31306}"/>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应用 </a:t>
            </a:r>
            <a:r>
              <a:rPr lang="en-US" altLang="zh-CN" sz="1400" kern="0" dirty="0">
                <a:latin typeface="微软雅黑" panose="020B0503020204020204" pitchFamily="34" charset="-122"/>
                <a:ea typeface="微软雅黑" panose="020B0503020204020204" pitchFamily="34" charset="-122"/>
                <a:cs typeface="+mn-ea"/>
                <a:sym typeface="+mn-lt"/>
              </a:rPr>
              <a:t>01–</a:t>
            </a:r>
            <a:r>
              <a:rPr lang="zh-CN" altLang="en-US" sz="1400" kern="0" dirty="0">
                <a:latin typeface="微软雅黑" panose="020B0503020204020204" pitchFamily="34" charset="-122"/>
                <a:ea typeface="微软雅黑" panose="020B0503020204020204" pitchFamily="34" charset="-122"/>
                <a:cs typeface="+mn-ea"/>
                <a:sym typeface="+mn-lt"/>
              </a:rPr>
              <a:t> 标准查新</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157597FF-CA0E-3D6A-C7CC-D7CDB948E5B9}"/>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4CC6C46F-6F2C-0EB8-6378-8C3A0257F3CB}"/>
              </a:ext>
            </a:extLst>
          </p:cNvPr>
          <p:cNvSpPr txBox="1"/>
          <p:nvPr/>
        </p:nvSpPr>
        <p:spPr>
          <a:xfrm>
            <a:off x="598872" y="836712"/>
            <a:ext cx="10994256" cy="3915303"/>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什么手段：关键词搜索（搜索引擎，</a:t>
            </a:r>
            <a:r>
              <a:rPr lang="en-US" altLang="zh-CN" sz="1400" kern="0" dirty="0">
                <a:latin typeface="微软雅黑" panose="020B0503020204020204" pitchFamily="34" charset="-122"/>
                <a:ea typeface="微软雅黑" panose="020B0503020204020204" pitchFamily="34" charset="-122"/>
                <a:cs typeface="+mn-ea"/>
                <a:sym typeface="+mn-lt"/>
              </a:rPr>
              <a:t>ES</a:t>
            </a:r>
            <a:r>
              <a:rPr lang="zh-CN" altLang="en-US" sz="1400" kern="0" dirty="0">
                <a:latin typeface="微软雅黑" panose="020B0503020204020204" pitchFamily="34" charset="-122"/>
                <a:ea typeface="微软雅黑" panose="020B0503020204020204" pitchFamily="34" charset="-122"/>
                <a:cs typeface="+mn-ea"/>
                <a:sym typeface="+mn-lt"/>
              </a:rPr>
              <a:t>），语义搜索（向量），结构化数据（</a:t>
            </a:r>
            <a:r>
              <a:rPr lang="en-US" altLang="zh-CN" sz="1400" kern="0" dirty="0">
                <a:latin typeface="微软雅黑" panose="020B0503020204020204" pitchFamily="34" charset="-122"/>
                <a:ea typeface="微软雅黑" panose="020B0503020204020204" pitchFamily="34" charset="-122"/>
                <a:cs typeface="+mn-ea"/>
                <a:sym typeface="+mn-lt"/>
              </a:rPr>
              <a:t>SQL</a:t>
            </a:r>
            <a:r>
              <a:rPr lang="zh-CN" altLang="en-US" sz="1400" kern="0" dirty="0">
                <a:latin typeface="微软雅黑" panose="020B0503020204020204" pitchFamily="34" charset="-122"/>
                <a:ea typeface="微软雅黑" panose="020B0503020204020204" pitchFamily="34" charset="-122"/>
                <a:cs typeface="+mn-ea"/>
                <a:sym typeface="+mn-lt"/>
              </a:rPr>
              <a:t>，</a:t>
            </a:r>
            <a:r>
              <a:rPr lang="en-US" altLang="zh-CN" sz="1400" kern="0" dirty="0">
                <a:latin typeface="微软雅黑" panose="020B0503020204020204" pitchFamily="34" charset="-122"/>
                <a:ea typeface="微软雅黑" panose="020B0503020204020204" pitchFamily="34" charset="-122"/>
                <a:cs typeface="+mn-ea"/>
                <a:sym typeface="+mn-lt"/>
              </a:rPr>
              <a:t>TextSQL</a:t>
            </a:r>
            <a:r>
              <a:rPr lang="zh-CN" altLang="en-US" sz="1400" kern="0" dirty="0">
                <a:latin typeface="微软雅黑" panose="020B0503020204020204" pitchFamily="34" charset="-122"/>
                <a:ea typeface="微软雅黑" panose="020B0503020204020204" pitchFamily="34" charset="-122"/>
                <a:cs typeface="+mn-ea"/>
                <a:sym typeface="+mn-lt"/>
              </a:rPr>
              <a:t>），关系数据（知识图谱，图数据）</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en-US" altLang="zh-CN" sz="1400" kern="0" dirty="0">
                <a:latin typeface="微软雅黑" panose="020B0503020204020204" pitchFamily="34" charset="-122"/>
                <a:ea typeface="微软雅黑" panose="020B0503020204020204" pitchFamily="34" charset="-122"/>
                <a:cs typeface="+mn-ea"/>
                <a:sym typeface="+mn-lt"/>
              </a:rPr>
              <a:t>Hybrid</a:t>
            </a:r>
            <a:r>
              <a:rPr lang="zh-CN" altLang="en-US" sz="1400" kern="0" dirty="0">
                <a:latin typeface="微软雅黑" panose="020B0503020204020204" pitchFamily="34" charset="-122"/>
                <a:ea typeface="微软雅黑" panose="020B0503020204020204" pitchFamily="34" charset="-122"/>
                <a:cs typeface="+mn-ea"/>
                <a:sym typeface="+mn-lt"/>
              </a:rPr>
              <a:t> 搜索</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语义搜索：关键词搜索：</a:t>
            </a:r>
            <a:r>
              <a:rPr lang="en-US" altLang="zh-CN" sz="1400" kern="0" dirty="0">
                <a:latin typeface="微软雅黑" panose="020B0503020204020204" pitchFamily="34" charset="-122"/>
                <a:ea typeface="微软雅黑" panose="020B0503020204020204" pitchFamily="34" charset="-122"/>
                <a:cs typeface="+mn-ea"/>
                <a:sym typeface="+mn-lt"/>
              </a:rPr>
              <a:t>70%</a:t>
            </a:r>
            <a:r>
              <a:rPr lang="zh-CN" altLang="en-US" sz="1400" kern="0" dirty="0">
                <a:latin typeface="微软雅黑" panose="020B0503020204020204" pitchFamily="34" charset="-122"/>
                <a:ea typeface="微软雅黑" panose="020B0503020204020204" pitchFamily="34" charset="-122"/>
                <a:cs typeface="+mn-ea"/>
                <a:sym typeface="+mn-lt"/>
              </a:rPr>
              <a:t>，语义搜索：</a:t>
            </a:r>
            <a:r>
              <a:rPr lang="en-US" altLang="zh-CN" sz="1400" kern="0" dirty="0">
                <a:latin typeface="微软雅黑" panose="020B0503020204020204" pitchFamily="34" charset="-122"/>
                <a:ea typeface="微软雅黑" panose="020B0503020204020204" pitchFamily="34" charset="-122"/>
                <a:cs typeface="+mn-ea"/>
                <a:sym typeface="+mn-lt"/>
              </a:rPr>
              <a:t>20%</a:t>
            </a:r>
            <a:r>
              <a:rPr lang="zh-CN" altLang="en-US" sz="1400" kern="0" dirty="0">
                <a:latin typeface="微软雅黑" panose="020B0503020204020204" pitchFamily="34" charset="-122"/>
                <a:ea typeface="微软雅黑" panose="020B0503020204020204" pitchFamily="34" charset="-122"/>
                <a:cs typeface="+mn-ea"/>
                <a:sym typeface="+mn-lt"/>
              </a:rPr>
              <a:t>，结构化搜索：</a:t>
            </a:r>
            <a:r>
              <a:rPr lang="en-US" altLang="zh-CN" sz="1400" kern="0" dirty="0">
                <a:latin typeface="微软雅黑" panose="020B0503020204020204" pitchFamily="34" charset="-122"/>
                <a:ea typeface="微软雅黑" panose="020B0503020204020204" pitchFamily="34" charset="-122"/>
                <a:cs typeface="+mn-ea"/>
                <a:sym typeface="+mn-lt"/>
              </a:rPr>
              <a:t>10%</a:t>
            </a: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原因：青霉素，发明：问题不能太长：关键词</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语义搜索，</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en-US" altLang="zh-CN" sz="1400" kern="0" dirty="0">
                <a:latin typeface="微软雅黑" panose="020B0503020204020204" pitchFamily="34" charset="-122"/>
                <a:ea typeface="微软雅黑" panose="020B0503020204020204" pitchFamily="34" charset="-122"/>
                <a:cs typeface="+mn-ea"/>
                <a:sym typeface="+mn-lt"/>
              </a:rPr>
              <a:t>[r1, r2, …], [y1, y2…]: Reranking: [r1, r2, y2, …]</a:t>
            </a:r>
          </a:p>
          <a:p>
            <a:pPr marL="342900" indent="-342900">
              <a:lnSpc>
                <a:spcPct val="130000"/>
              </a:lnSpc>
              <a:spcBef>
                <a:spcPts val="600"/>
              </a:spcBef>
              <a:buFont typeface="+mj-lt"/>
              <a:buAutoNum type="arabicPeriod"/>
            </a:pPr>
            <a:r>
              <a:rPr lang="en-US" altLang="zh-CN" sz="1400" kern="0" dirty="0">
                <a:latin typeface="微软雅黑" panose="020B0503020204020204" pitchFamily="34" charset="-122"/>
                <a:ea typeface="微软雅黑" panose="020B0503020204020204" pitchFamily="34" charset="-122"/>
                <a:cs typeface="+mn-ea"/>
                <a:sym typeface="+mn-lt"/>
              </a:rPr>
              <a:t>Reranking: </a:t>
            </a:r>
            <a:r>
              <a:rPr lang="zh-CN" altLang="en-US" sz="1400" kern="0" dirty="0">
                <a:latin typeface="微软雅黑" panose="020B0503020204020204" pitchFamily="34" charset="-122"/>
                <a:ea typeface="微软雅黑" panose="020B0503020204020204" pitchFamily="34" charset="-122"/>
                <a:cs typeface="+mn-ea"/>
                <a:sym typeface="+mn-lt"/>
              </a:rPr>
              <a:t>语义的</a:t>
            </a:r>
            <a:r>
              <a:rPr lang="en-US" altLang="zh-CN" sz="1400" kern="0" dirty="0">
                <a:latin typeface="微软雅黑" panose="020B0503020204020204" pitchFamily="34" charset="-122"/>
                <a:ea typeface="微软雅黑" panose="020B0503020204020204" pitchFamily="34" charset="-122"/>
                <a:cs typeface="+mn-ea"/>
                <a:sym typeface="+mn-lt"/>
              </a:rPr>
              <a:t>Reranking</a:t>
            </a:r>
            <a:r>
              <a:rPr lang="zh-CN" altLang="en-US" sz="1400" kern="0" dirty="0">
                <a:latin typeface="微软雅黑" panose="020B0503020204020204" pitchFamily="34" charset="-122"/>
                <a:ea typeface="微软雅黑" panose="020B0503020204020204" pitchFamily="34" charset="-122"/>
                <a:cs typeface="+mn-ea"/>
                <a:sym typeface="+mn-lt"/>
              </a:rPr>
              <a:t>：</a:t>
            </a:r>
            <a:r>
              <a:rPr lang="en-US" altLang="zh-CN" sz="1400" kern="0" dirty="0">
                <a:latin typeface="微软雅黑" panose="020B0503020204020204" pitchFamily="34" charset="-122"/>
                <a:ea typeface="微软雅黑" panose="020B0503020204020204" pitchFamily="34" charset="-122"/>
                <a:cs typeface="+mn-ea"/>
                <a:sym typeface="+mn-lt"/>
              </a:rPr>
              <a:t>Q</a:t>
            </a:r>
            <a:r>
              <a:rPr lang="zh-CN" altLang="en-US" sz="1400" kern="0" dirty="0">
                <a:latin typeface="微软雅黑" panose="020B0503020204020204" pitchFamily="34" charset="-122"/>
                <a:ea typeface="微软雅黑" panose="020B0503020204020204" pitchFamily="34" charset="-122"/>
                <a:cs typeface="+mn-ea"/>
                <a:sym typeface="+mn-lt"/>
              </a:rPr>
              <a:t>：大模型实现的，</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数据分片：根据长度</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关键词如何来？大模型：分析用户的问题，同时让大模型从用户的问题中抽取一些关键的关键词：</a:t>
            </a:r>
            <a:r>
              <a:rPr lang="en-US" altLang="zh-CN" sz="1400" kern="0" dirty="0">
                <a:latin typeface="微软雅黑" panose="020B0503020204020204" pitchFamily="34" charset="-122"/>
                <a:ea typeface="微软雅黑" panose="020B0503020204020204" pitchFamily="34" charset="-122"/>
                <a:cs typeface="+mn-ea"/>
                <a:sym typeface="+mn-lt"/>
              </a:rPr>
              <a:t>3-5</a:t>
            </a:r>
          </a:p>
          <a:p>
            <a:pPr marL="342900" indent="-342900">
              <a:lnSpc>
                <a:spcPct val="130000"/>
              </a:lnSpc>
              <a:spcBef>
                <a:spcPts val="600"/>
              </a:spcBef>
              <a:buFont typeface="+mj-lt"/>
              <a:buAutoNum type="arabicPeriod"/>
            </a:pPr>
            <a:r>
              <a:rPr lang="en-US" altLang="zh-CN" sz="1400" kern="0" dirty="0">
                <a:latin typeface="微软雅黑" panose="020B0503020204020204" pitchFamily="34" charset="-122"/>
                <a:ea typeface="微软雅黑" panose="020B0503020204020204" pitchFamily="34" charset="-122"/>
                <a:cs typeface="+mn-ea"/>
                <a:sym typeface="+mn-lt"/>
              </a:rPr>
              <a:t>Text2SQL</a:t>
            </a:r>
            <a:r>
              <a:rPr lang="zh-CN" altLang="en-US" sz="1400" kern="0" dirty="0">
                <a:latin typeface="微软雅黑" panose="020B0503020204020204" pitchFamily="34" charset="-122"/>
                <a:ea typeface="微软雅黑" panose="020B0503020204020204" pitchFamily="34" charset="-122"/>
                <a:cs typeface="+mn-ea"/>
                <a:sym typeface="+mn-lt"/>
              </a:rPr>
              <a:t>：请问你们有多少有关新能源汽车的标准？</a:t>
            </a:r>
            <a:r>
              <a:rPr lang="en-US" altLang="zh-CN" sz="1400" kern="0" dirty="0">
                <a:latin typeface="微软雅黑" panose="020B0503020204020204" pitchFamily="34" charset="-122"/>
                <a:ea typeface="微软雅黑" panose="020B0503020204020204" pitchFamily="34" charset="-122"/>
                <a:cs typeface="+mn-ea"/>
                <a:sym typeface="+mn-lt"/>
              </a:rPr>
              <a:t>Select * from topic where “xxx</a:t>
            </a:r>
            <a:r>
              <a:rPr lang="zh-CN" altLang="en-US" sz="1400" kern="0" dirty="0">
                <a:latin typeface="微软雅黑" panose="020B0503020204020204" pitchFamily="34" charset="-122"/>
                <a:ea typeface="微软雅黑" panose="020B0503020204020204" pitchFamily="34" charset="-122"/>
                <a:cs typeface="+mn-ea"/>
                <a:sym typeface="+mn-lt"/>
              </a:rPr>
              <a:t>”</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endParaRPr lang="en-US" altLang="zh-CN"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36754361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80A34-9084-7AAF-F4E3-F29BE574049A}"/>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B0504100-4AEB-C65D-7BDD-44BC58B8D64A}"/>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应用 </a:t>
            </a:r>
            <a:r>
              <a:rPr lang="en-US" altLang="zh-CN" sz="1400" kern="0" dirty="0">
                <a:latin typeface="微软雅黑" panose="020B0503020204020204" pitchFamily="34" charset="-122"/>
                <a:ea typeface="微软雅黑" panose="020B0503020204020204" pitchFamily="34" charset="-122"/>
                <a:cs typeface="+mn-ea"/>
                <a:sym typeface="+mn-lt"/>
              </a:rPr>
              <a:t>01–</a:t>
            </a:r>
            <a:r>
              <a:rPr lang="zh-CN" altLang="en-US" sz="1400" kern="0" dirty="0">
                <a:latin typeface="微软雅黑" panose="020B0503020204020204" pitchFamily="34" charset="-122"/>
                <a:ea typeface="微软雅黑" panose="020B0503020204020204" pitchFamily="34" charset="-122"/>
                <a:cs typeface="+mn-ea"/>
                <a:sym typeface="+mn-lt"/>
              </a:rPr>
              <a:t> 标准查新</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EBA10265-2926-13E0-FF2B-BE7D77793DE1}"/>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98D00A65-31F1-8070-C1D8-4911ED8EDC49}"/>
              </a:ext>
            </a:extLst>
          </p:cNvPr>
          <p:cNvSpPr txBox="1"/>
          <p:nvPr/>
        </p:nvSpPr>
        <p:spPr>
          <a:xfrm>
            <a:off x="598872" y="836712"/>
            <a:ext cx="10994256" cy="702115"/>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小高加工过的结构化数据：读数据时：向量化，入库向量数据库，入库</a:t>
            </a:r>
            <a:r>
              <a:rPr lang="en-US" altLang="zh-CN" sz="1400" kern="0" dirty="0">
                <a:latin typeface="微软雅黑" panose="020B0503020204020204" pitchFamily="34" charset="-122"/>
                <a:ea typeface="微软雅黑" panose="020B0503020204020204" pitchFamily="34" charset="-122"/>
                <a:cs typeface="+mn-ea"/>
                <a:sym typeface="+mn-lt"/>
              </a:rPr>
              <a:t>ES</a:t>
            </a:r>
            <a:r>
              <a:rPr lang="zh-CN" altLang="en-US" sz="1400" kern="0" dirty="0">
                <a:latin typeface="微软雅黑" panose="020B0503020204020204" pitchFamily="34" charset="-122"/>
                <a:ea typeface="微软雅黑" panose="020B0503020204020204" pitchFamily="34" charset="-122"/>
                <a:cs typeface="+mn-ea"/>
                <a:sym typeface="+mn-lt"/>
              </a:rPr>
              <a:t>，</a:t>
            </a:r>
            <a:endParaRPr lang="en-US" altLang="zh-CN"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2801118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E7B8-4BAB-414E-48A0-FDDDFA7AD6E9}"/>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95762F80-8CB1-CF72-83E0-01D98BB31470}"/>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编辑器</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769C7C4F-8631-AA52-0D4D-9A4927CF9A18}"/>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9695A9EA-AB44-80B3-9622-34858A063BED}"/>
              </a:ext>
            </a:extLst>
          </p:cNvPr>
          <p:cNvSpPr txBox="1"/>
          <p:nvPr/>
        </p:nvSpPr>
        <p:spPr>
          <a:xfrm>
            <a:off x="598872" y="836712"/>
            <a:ext cx="10994256" cy="1059136"/>
          </a:xfrm>
          <a:prstGeom prst="rect">
            <a:avLst/>
          </a:prstGeom>
          <a:noFill/>
        </p:spPr>
        <p:txBody>
          <a:bodyPr wrap="square" rtlCol="0">
            <a:spAutoFit/>
          </a:bodyPr>
          <a:lstStyle/>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限定能力：最大表格不超过</a:t>
            </a:r>
            <a:r>
              <a:rPr lang="en-US" altLang="zh-CN" sz="1400" kern="0" dirty="0">
                <a:latin typeface="微软雅黑" panose="020B0503020204020204" pitchFamily="34" charset="-122"/>
                <a:ea typeface="微软雅黑" panose="020B0503020204020204" pitchFamily="34" charset="-122"/>
                <a:cs typeface="+mn-ea"/>
                <a:sym typeface="+mn-lt"/>
              </a:rPr>
              <a:t>n</a:t>
            </a:r>
            <a:r>
              <a:rPr lang="zh-CN" altLang="en-US" sz="1400" kern="0" dirty="0">
                <a:latin typeface="微软雅黑" panose="020B0503020204020204" pitchFamily="34" charset="-122"/>
                <a:ea typeface="微软雅黑" panose="020B0503020204020204" pitchFamily="34" charset="-122"/>
                <a:cs typeface="+mn-ea"/>
                <a:sym typeface="+mn-lt"/>
              </a:rPr>
              <a:t>条</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页码：不要做，让</a:t>
            </a:r>
            <a:r>
              <a:rPr lang="en-US" altLang="zh-CN" sz="1400" kern="0" dirty="0">
                <a:latin typeface="微软雅黑" panose="020B0503020204020204" pitchFamily="34" charset="-122"/>
                <a:ea typeface="微软雅黑" panose="020B0503020204020204" pitchFamily="34" charset="-122"/>
                <a:cs typeface="+mn-ea"/>
                <a:sym typeface="+mn-lt"/>
              </a:rPr>
              <a:t>Word</a:t>
            </a:r>
            <a:r>
              <a:rPr lang="zh-CN" altLang="en-US" sz="1400" kern="0" dirty="0">
                <a:latin typeface="微软雅黑" panose="020B0503020204020204" pitchFamily="34" charset="-122"/>
                <a:ea typeface="微软雅黑" panose="020B0503020204020204" pitchFamily="34" charset="-122"/>
                <a:cs typeface="+mn-ea"/>
                <a:sym typeface="+mn-lt"/>
              </a:rPr>
              <a:t>做</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编辑器：便捷器，不是</a:t>
            </a:r>
            <a:r>
              <a:rPr lang="en-US" altLang="zh-CN" sz="1400" kern="0" dirty="0">
                <a:latin typeface="微软雅黑" panose="020B0503020204020204" pitchFamily="34" charset="-122"/>
                <a:ea typeface="微软雅黑" panose="020B0503020204020204" pitchFamily="34" charset="-122"/>
                <a:cs typeface="+mn-ea"/>
                <a:sym typeface="+mn-lt"/>
              </a:rPr>
              <a:t>Word</a:t>
            </a:r>
            <a:r>
              <a:rPr lang="zh-CN" altLang="en-US" sz="1400" kern="0" dirty="0">
                <a:latin typeface="微软雅黑" panose="020B0503020204020204" pitchFamily="34" charset="-122"/>
                <a:ea typeface="微软雅黑" panose="020B0503020204020204" pitchFamily="34" charset="-122"/>
                <a:cs typeface="+mn-ea"/>
                <a:sym typeface="+mn-lt"/>
              </a:rPr>
              <a:t>的替代，仍然需要用</a:t>
            </a:r>
            <a:r>
              <a:rPr lang="en-US" altLang="zh-CN" sz="1400" kern="0" dirty="0">
                <a:latin typeface="微软雅黑" panose="020B0503020204020204" pitchFamily="34" charset="-122"/>
                <a:ea typeface="微软雅黑" panose="020B0503020204020204" pitchFamily="34" charset="-122"/>
                <a:cs typeface="+mn-ea"/>
                <a:sym typeface="+mn-lt"/>
              </a:rPr>
              <a:t>Word</a:t>
            </a:r>
            <a:r>
              <a:rPr lang="zh-CN" altLang="en-US" sz="1400" kern="0" dirty="0">
                <a:latin typeface="微软雅黑" panose="020B0503020204020204" pitchFamily="34" charset="-122"/>
                <a:ea typeface="微软雅黑" panose="020B0503020204020204" pitchFamily="34" charset="-122"/>
                <a:cs typeface="+mn-ea"/>
                <a:sym typeface="+mn-lt"/>
              </a:rPr>
              <a:t>形成最终产品</a:t>
            </a:r>
            <a:endParaRPr lang="en-US" altLang="zh-CN"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371837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0724F-1B2B-70E4-F2D8-84AAA3C0C874}"/>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53AAF1C6-210D-AECF-A40E-60616165DA2C}"/>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个性化</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ABC70E01-2983-2C1C-DFE1-804DB98331A1}"/>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2" name="TextBox 1">
            <a:extLst>
              <a:ext uri="{FF2B5EF4-FFF2-40B4-BE49-F238E27FC236}">
                <a16:creationId xmlns:a16="http://schemas.microsoft.com/office/drawing/2014/main" id="{C8AFC3E6-DD03-F019-F9CD-A56035E50DA2}"/>
              </a:ext>
            </a:extLst>
          </p:cNvPr>
          <p:cNvSpPr txBox="1"/>
          <p:nvPr/>
        </p:nvSpPr>
        <p:spPr>
          <a:xfrm>
            <a:off x="598872" y="836712"/>
            <a:ext cx="10994256" cy="1059136"/>
          </a:xfrm>
          <a:prstGeom prst="rect">
            <a:avLst/>
          </a:prstGeom>
          <a:noFill/>
        </p:spPr>
        <p:txBody>
          <a:bodyPr wrap="square" rtlCol="0">
            <a:spAutoFit/>
          </a:bodyPr>
          <a:lstStyle/>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方法</a:t>
            </a:r>
            <a:r>
              <a:rPr lang="en-US" altLang="zh-CN" sz="1400" kern="0" dirty="0">
                <a:latin typeface="微软雅黑" panose="020B0503020204020204" pitchFamily="34" charset="-122"/>
                <a:ea typeface="微软雅黑" panose="020B0503020204020204" pitchFamily="34" charset="-122"/>
                <a:cs typeface="+mn-ea"/>
                <a:sym typeface="+mn-lt"/>
              </a:rPr>
              <a:t>1:</a:t>
            </a:r>
            <a:r>
              <a:rPr lang="zh-CN" altLang="en-US" sz="1400" kern="0" dirty="0">
                <a:latin typeface="微软雅黑" panose="020B0503020204020204" pitchFamily="34" charset="-122"/>
                <a:ea typeface="微软雅黑" panose="020B0503020204020204" pitchFamily="34" charset="-122"/>
                <a:cs typeface="+mn-ea"/>
                <a:sym typeface="+mn-lt"/>
              </a:rPr>
              <a:t> 拒绝个性化，</a:t>
            </a:r>
            <a:r>
              <a:rPr lang="en-US" altLang="zh-CN" sz="1400" kern="0" dirty="0">
                <a:latin typeface="微软雅黑" panose="020B0503020204020204" pitchFamily="34" charset="-122"/>
                <a:ea typeface="微软雅黑" panose="020B0503020204020204" pitchFamily="34" charset="-122"/>
                <a:cs typeface="+mn-ea"/>
                <a:sym typeface="+mn-lt"/>
              </a:rPr>
              <a:t>Snowflake</a:t>
            </a:r>
            <a:r>
              <a:rPr lang="zh-CN" altLang="en-US" sz="1400" kern="0" dirty="0">
                <a:latin typeface="微软雅黑" panose="020B0503020204020204" pitchFamily="34" charset="-122"/>
                <a:ea typeface="微软雅黑" panose="020B0503020204020204" pitchFamily="34" charset="-122"/>
                <a:cs typeface="+mn-ea"/>
                <a:sym typeface="+mn-lt"/>
              </a:rPr>
              <a:t>，</a:t>
            </a:r>
            <a:r>
              <a:rPr lang="en-US" altLang="zh-CN" sz="1400" kern="0" dirty="0">
                <a:latin typeface="微软雅黑" panose="020B0503020204020204" pitchFamily="34" charset="-122"/>
                <a:ea typeface="微软雅黑" panose="020B0503020204020204" pitchFamily="34" charset="-122"/>
                <a:cs typeface="+mn-ea"/>
                <a:sym typeface="+mn-lt"/>
              </a:rPr>
              <a:t>Databrics</a:t>
            </a:r>
            <a:r>
              <a:rPr lang="zh-CN" altLang="en-US" sz="1400" kern="0" dirty="0">
                <a:latin typeface="微软雅黑" panose="020B0503020204020204" pitchFamily="34" charset="-122"/>
                <a:ea typeface="微软雅黑" panose="020B0503020204020204" pitchFamily="34" charset="-122"/>
                <a:cs typeface="+mn-ea"/>
                <a:sym typeface="+mn-lt"/>
              </a:rPr>
              <a:t>，微软，</a:t>
            </a:r>
            <a:r>
              <a:rPr lang="en-US" altLang="zh-CN" sz="1400" kern="0" dirty="0">
                <a:latin typeface="微软雅黑" panose="020B0503020204020204" pitchFamily="34" charset="-122"/>
                <a:ea typeface="微软雅黑" panose="020B0503020204020204" pitchFamily="34" charset="-122"/>
                <a:cs typeface="+mn-ea"/>
                <a:sym typeface="+mn-lt"/>
              </a:rPr>
              <a:t>Oracle</a:t>
            </a: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方法</a:t>
            </a:r>
            <a:r>
              <a:rPr lang="en-US" altLang="zh-CN" sz="1400" kern="0" dirty="0">
                <a:latin typeface="微软雅黑" panose="020B0503020204020204" pitchFamily="34" charset="-122"/>
                <a:ea typeface="微软雅黑" panose="020B0503020204020204" pitchFamily="34" charset="-122"/>
                <a:cs typeface="+mn-ea"/>
                <a:sym typeface="+mn-lt"/>
              </a:rPr>
              <a:t>2:</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PostgreSQL</a:t>
            </a:r>
            <a:r>
              <a:rPr lang="zh-CN" altLang="en-US" sz="1400" kern="0" dirty="0">
                <a:latin typeface="微软雅黑" panose="020B0503020204020204" pitchFamily="34" charset="-122"/>
                <a:ea typeface="微软雅黑" panose="020B0503020204020204" pitchFamily="34" charset="-122"/>
                <a:cs typeface="+mn-ea"/>
                <a:sym typeface="+mn-lt"/>
              </a:rPr>
              <a:t>：向量数据库，</a:t>
            </a:r>
            <a:r>
              <a:rPr lang="en-US" altLang="zh-CN" sz="1400" kern="0" dirty="0">
                <a:latin typeface="微软雅黑" panose="020B0503020204020204" pitchFamily="34" charset="-122"/>
                <a:ea typeface="微软雅黑" panose="020B0503020204020204" pitchFamily="34" charset="-122"/>
                <a:cs typeface="+mn-ea"/>
                <a:sym typeface="+mn-lt"/>
              </a:rPr>
              <a:t>ES</a:t>
            </a:r>
            <a:r>
              <a:rPr lang="zh-CN" altLang="en-US" sz="1400" kern="0" dirty="0">
                <a:latin typeface="微软雅黑" panose="020B0503020204020204" pitchFamily="34" charset="-122"/>
                <a:ea typeface="微软雅黑" panose="020B0503020204020204" pitchFamily="34" charset="-122"/>
                <a:cs typeface="+mn-ea"/>
                <a:sym typeface="+mn-lt"/>
              </a:rPr>
              <a:t>，</a:t>
            </a:r>
            <a:r>
              <a:rPr lang="en-US" altLang="zh-CN" sz="1400" kern="0" dirty="0">
                <a:latin typeface="微软雅黑" panose="020B0503020204020204" pitchFamily="34" charset="-122"/>
                <a:ea typeface="微软雅黑" panose="020B0503020204020204" pitchFamily="34" charset="-122"/>
                <a:cs typeface="+mn-ea"/>
                <a:sym typeface="+mn-lt"/>
              </a:rPr>
              <a:t>LLM</a:t>
            </a:r>
            <a:r>
              <a:rPr lang="zh-CN" altLang="en-US" sz="1400" kern="0" dirty="0">
                <a:latin typeface="微软雅黑" panose="020B0503020204020204" pitchFamily="34" charset="-122"/>
                <a:ea typeface="微软雅黑" panose="020B0503020204020204" pitchFamily="34" charset="-122"/>
                <a:cs typeface="+mn-ea"/>
                <a:sym typeface="+mn-lt"/>
              </a:rPr>
              <a:t>，</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，插件方式，</a:t>
            </a:r>
            <a:r>
              <a:rPr lang="en-US" altLang="zh-CN" sz="1400" kern="0" dirty="0">
                <a:latin typeface="微软雅黑" panose="020B0503020204020204" pitchFamily="34" charset="-122"/>
                <a:ea typeface="微软雅黑" panose="020B0503020204020204" pitchFamily="34" charset="-122"/>
                <a:cs typeface="+mn-ea"/>
                <a:sym typeface="+mn-lt"/>
              </a:rPr>
              <a:t>Jimo</a:t>
            </a:r>
            <a:r>
              <a:rPr lang="zh-CN" altLang="en-US" sz="1400" kern="0" dirty="0">
                <a:latin typeface="微软雅黑" panose="020B0503020204020204" pitchFamily="34" charset="-122"/>
                <a:ea typeface="微软雅黑" panose="020B0503020204020204" pitchFamily="34" charset="-122"/>
                <a:cs typeface="+mn-ea"/>
                <a:sym typeface="+mn-lt"/>
              </a:rPr>
              <a:t>，标准件</a:t>
            </a:r>
            <a:endParaRPr lang="en-US" altLang="zh-CN" sz="1400" kern="0" dirty="0">
              <a:latin typeface="微软雅黑" panose="020B0503020204020204" pitchFamily="34" charset="-122"/>
              <a:ea typeface="微软雅黑" panose="020B0503020204020204" pitchFamily="34" charset="-122"/>
              <a:cs typeface="+mn-ea"/>
              <a:sym typeface="+mn-lt"/>
            </a:endParaRPr>
          </a:p>
          <a:p>
            <a:pPr marL="342900" indent="-342900">
              <a:lnSpc>
                <a:spcPct val="130000"/>
              </a:lnSpc>
              <a:spcBef>
                <a:spcPts val="600"/>
              </a:spcBef>
              <a:buFont typeface="+mj-lt"/>
              <a:buAutoNum type="arabicPeriod"/>
            </a:pPr>
            <a:r>
              <a:rPr lang="zh-CN" altLang="en-US" sz="1400" kern="0" dirty="0">
                <a:latin typeface="微软雅黑" panose="020B0503020204020204" pitchFamily="34" charset="-122"/>
                <a:ea typeface="微软雅黑" panose="020B0503020204020204" pitchFamily="34" charset="-122"/>
                <a:cs typeface="+mn-ea"/>
                <a:sym typeface="+mn-lt"/>
              </a:rPr>
              <a:t>润申方法：小个性化，润申做，大个性化，或者用户做，润申指导，或者用户委托（第三方）开发者做</a:t>
            </a:r>
            <a:endParaRPr lang="en-US" altLang="zh-CN" sz="1400" kern="0" dirty="0">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14055401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55E36-B4B8-0140-9979-305E80F8F926}"/>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4EE0A337-85E1-6FA7-55D4-54840F20D9C5}"/>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知识冶炼</a:t>
            </a:r>
          </a:p>
        </p:txBody>
      </p:sp>
      <p:sp>
        <p:nvSpPr>
          <p:cNvPr id="47" name="文本框 24">
            <a:extLst>
              <a:ext uri="{FF2B5EF4-FFF2-40B4-BE49-F238E27FC236}">
                <a16:creationId xmlns:a16="http://schemas.microsoft.com/office/drawing/2014/main" id="{6B989D9D-969E-B880-6941-77BF9EF3E41A}"/>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3" name="Rounded Rectangle 2">
            <a:extLst>
              <a:ext uri="{FF2B5EF4-FFF2-40B4-BE49-F238E27FC236}">
                <a16:creationId xmlns:a16="http://schemas.microsoft.com/office/drawing/2014/main" id="{1C5EABC8-BC98-68DC-E52D-BB7804786C00}"/>
              </a:ext>
            </a:extLst>
          </p:cNvPr>
          <p:cNvSpPr/>
          <p:nvPr/>
        </p:nvSpPr>
        <p:spPr bwMode="auto">
          <a:xfrm>
            <a:off x="839416" y="764704"/>
            <a:ext cx="9649072"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录入</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OCR</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，小高，官网（</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text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html</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Excel</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Word</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，文本）</a:t>
            </a:r>
            <a:r>
              <a:rPr lang="en-US" altLang="zh-CN"/>
              <a:t>=&gt; text</a:t>
            </a:r>
            <a:r>
              <a:rPr lang="zh-CN" altLang="en-US"/>
              <a:t> （</a:t>
            </a:r>
            <a:r>
              <a:rPr lang="en-US" altLang="zh-CN"/>
              <a:t>MySQL</a:t>
            </a:r>
            <a:r>
              <a:rPr lang="zh-CN" altLang="en-US"/>
              <a:t>）</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Rounded Rectangle 3">
            <a:extLst>
              <a:ext uri="{FF2B5EF4-FFF2-40B4-BE49-F238E27FC236}">
                <a16:creationId xmlns:a16="http://schemas.microsoft.com/office/drawing/2014/main" id="{D1A3F7E6-380E-5D71-BA68-1812EC5CD5B7}"/>
              </a:ext>
            </a:extLst>
          </p:cNvPr>
          <p:cNvSpPr/>
          <p:nvPr/>
        </p:nvSpPr>
        <p:spPr bwMode="auto">
          <a:xfrm>
            <a:off x="839416" y="1340768"/>
            <a:ext cx="8640960"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t>Read</a:t>
            </a:r>
            <a:r>
              <a:rPr lang="zh-CN" altLang="en-US"/>
              <a:t> </a:t>
            </a:r>
            <a:r>
              <a:rPr lang="en-US" altLang="zh-CN"/>
              <a:t>text</a:t>
            </a:r>
            <a:r>
              <a:rPr lang="zh-CN" altLang="en-US"/>
              <a:t> （</a:t>
            </a:r>
            <a:r>
              <a:rPr lang="en-US" altLang="zh-CN"/>
              <a:t>DB</a:t>
            </a:r>
            <a:r>
              <a:rPr lang="zh-CN" altLang="en-US"/>
              <a:t>），结构化分析，加工，</a:t>
            </a:r>
            <a:r>
              <a:rPr lang="en-US" altLang="zh-CN"/>
              <a:t>=&gt; MySQL</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Rounded Rectangle 4">
            <a:extLst>
              <a:ext uri="{FF2B5EF4-FFF2-40B4-BE49-F238E27FC236}">
                <a16:creationId xmlns:a16="http://schemas.microsoft.com/office/drawing/2014/main" id="{D6B711CB-CE2B-FDAB-A9B4-246A645B0860}"/>
              </a:ext>
            </a:extLst>
          </p:cNvPr>
          <p:cNvSpPr/>
          <p:nvPr/>
        </p:nvSpPr>
        <p:spPr bwMode="auto">
          <a:xfrm>
            <a:off x="839416" y="1916832"/>
            <a:ext cx="8640960" cy="432048"/>
          </a:xfrm>
          <a:prstGeom prst="roundRect">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数据分片</a:t>
            </a:r>
          </a:p>
        </p:txBody>
      </p:sp>
      <p:sp>
        <p:nvSpPr>
          <p:cNvPr id="6" name="Rounded Rectangle 5">
            <a:extLst>
              <a:ext uri="{FF2B5EF4-FFF2-40B4-BE49-F238E27FC236}">
                <a16:creationId xmlns:a16="http://schemas.microsoft.com/office/drawing/2014/main" id="{757EBDB9-FFEF-C660-3545-430B0E085186}"/>
              </a:ext>
            </a:extLst>
          </p:cNvPr>
          <p:cNvSpPr/>
          <p:nvPr/>
        </p:nvSpPr>
        <p:spPr bwMode="auto">
          <a:xfrm>
            <a:off x="839416" y="2462141"/>
            <a:ext cx="8640960"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Vector</a:t>
            </a:r>
          </a:p>
        </p:txBody>
      </p:sp>
      <p:sp>
        <p:nvSpPr>
          <p:cNvPr id="7" name="Rounded Rectangle 6">
            <a:extLst>
              <a:ext uri="{FF2B5EF4-FFF2-40B4-BE49-F238E27FC236}">
                <a16:creationId xmlns:a16="http://schemas.microsoft.com/office/drawing/2014/main" id="{0575E1C2-5601-C73C-E15A-045E2F2ED7D7}"/>
              </a:ext>
            </a:extLst>
          </p:cNvPr>
          <p:cNvSpPr/>
          <p:nvPr/>
        </p:nvSpPr>
        <p:spPr bwMode="auto">
          <a:xfrm>
            <a:off x="839416" y="2996952"/>
            <a:ext cx="8640960"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ES</a:t>
            </a:r>
          </a:p>
        </p:txBody>
      </p:sp>
    </p:spTree>
    <p:extLst>
      <p:ext uri="{BB962C8B-B14F-4D97-AF65-F5344CB8AC3E}">
        <p14:creationId xmlns:p14="http://schemas.microsoft.com/office/powerpoint/2010/main" val="41391406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2E77B-70E1-B484-004F-7E6B9A4EAD2A}"/>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F278A330-6D69-86B7-0757-4B5FA3D5AD51}"/>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如何用（智能问答</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461DC8C0-8FBF-01C2-E8F8-A0D7262D290D}"/>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3" name="Rounded Rectangle 2">
            <a:extLst>
              <a:ext uri="{FF2B5EF4-FFF2-40B4-BE49-F238E27FC236}">
                <a16:creationId xmlns:a16="http://schemas.microsoft.com/office/drawing/2014/main" id="{38076572-1DD3-6F17-D5D3-E4F33940FAED}"/>
              </a:ext>
            </a:extLst>
          </p:cNvPr>
          <p:cNvSpPr/>
          <p:nvPr/>
        </p:nvSpPr>
        <p:spPr bwMode="auto">
          <a:xfrm>
            <a:off x="839416" y="76470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智能搜索</a:t>
            </a:r>
          </a:p>
        </p:txBody>
      </p:sp>
      <p:sp>
        <p:nvSpPr>
          <p:cNvPr id="2" name="Rounded Rectangle 1">
            <a:extLst>
              <a:ext uri="{FF2B5EF4-FFF2-40B4-BE49-F238E27FC236}">
                <a16:creationId xmlns:a16="http://schemas.microsoft.com/office/drawing/2014/main" id="{92A6D8F9-847F-5D54-6D1F-5A3C02B29C99}"/>
              </a:ext>
            </a:extLst>
          </p:cNvPr>
          <p:cNvSpPr/>
          <p:nvPr/>
        </p:nvSpPr>
        <p:spPr bwMode="auto">
          <a:xfrm>
            <a:off x="1127448" y="1268760"/>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分析用户的问题（提示语）</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ounded Rectangle 7">
            <a:extLst>
              <a:ext uri="{FF2B5EF4-FFF2-40B4-BE49-F238E27FC236}">
                <a16:creationId xmlns:a16="http://schemas.microsoft.com/office/drawing/2014/main" id="{1EE24DDF-7942-CD44-32BF-B206395B9FB5}"/>
              </a:ext>
            </a:extLst>
          </p:cNvPr>
          <p:cNvSpPr/>
          <p:nvPr/>
        </p:nvSpPr>
        <p:spPr bwMode="auto">
          <a:xfrm>
            <a:off x="5999472" y="1340768"/>
            <a:ext cx="5281104" cy="12327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a2, …: similarity: 0.8: Limit 50</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t>B1, b2, …: BM25: 1-100: Limit </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Reranking: 排行</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，相似度</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100</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A1, A2, B3, B2,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，不过滤，</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Rounded Rectangle 9">
            <a:extLst>
              <a:ext uri="{FF2B5EF4-FFF2-40B4-BE49-F238E27FC236}">
                <a16:creationId xmlns:a16="http://schemas.microsoft.com/office/drawing/2014/main" id="{88C0AF6F-E96C-8A60-DF6E-A719139ED9F7}"/>
              </a:ext>
            </a:extLst>
          </p:cNvPr>
          <p:cNvSpPr/>
          <p:nvPr/>
        </p:nvSpPr>
        <p:spPr bwMode="auto">
          <a:xfrm>
            <a:off x="1127448" y="1772816"/>
            <a:ext cx="4104456" cy="72008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根据每个任务（</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Task</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），分析问题，解析出关键词，</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xxx</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ounded Rectangle 10">
            <a:extLst>
              <a:ext uri="{FF2B5EF4-FFF2-40B4-BE49-F238E27FC236}">
                <a16:creationId xmlns:a16="http://schemas.microsoft.com/office/drawing/2014/main" id="{4136CA4C-F1AA-6D7A-134A-94739748F7FA}"/>
              </a:ext>
            </a:extLst>
          </p:cNvPr>
          <p:cNvSpPr/>
          <p:nvPr/>
        </p:nvSpPr>
        <p:spPr bwMode="auto">
          <a:xfrm>
            <a:off x="1127448" y="2573504"/>
            <a:ext cx="4104456" cy="720080"/>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根据每个任务（</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Task</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），分析问题，解析出关键词，</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xxx</a:t>
            </a:r>
          </a:p>
        </p:txBody>
      </p:sp>
      <p:sp>
        <p:nvSpPr>
          <p:cNvPr id="12" name="Rounded Rectangle 11">
            <a:extLst>
              <a:ext uri="{FF2B5EF4-FFF2-40B4-BE49-F238E27FC236}">
                <a16:creationId xmlns:a16="http://schemas.microsoft.com/office/drawing/2014/main" id="{1D3705C2-CB13-3A2F-7612-A039FF95122D}"/>
              </a:ext>
            </a:extLst>
          </p:cNvPr>
          <p:cNvSpPr/>
          <p:nvPr/>
        </p:nvSpPr>
        <p:spPr bwMode="auto">
          <a:xfrm>
            <a:off x="5999472" y="2677216"/>
            <a:ext cx="5281104" cy="12327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a2, …: similarity: 0.8: Limit 50</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t>B1, b2, …: BM25: 1-100: Limit </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Reranking: 排行</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，相似度</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100</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a:t>A1, A2, B3, B2, …</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，不过滤，</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3" name="Rounded Rectangle 12">
            <a:extLst>
              <a:ext uri="{FF2B5EF4-FFF2-40B4-BE49-F238E27FC236}">
                <a16:creationId xmlns:a16="http://schemas.microsoft.com/office/drawing/2014/main" id="{54445C79-E758-996C-08E8-CB9C6D5F35E6}"/>
              </a:ext>
            </a:extLst>
          </p:cNvPr>
          <p:cNvSpPr/>
          <p:nvPr/>
        </p:nvSpPr>
        <p:spPr bwMode="auto">
          <a:xfrm>
            <a:off x="5999472" y="4023685"/>
            <a:ext cx="5281104" cy="12327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大模型重排序</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Rounded Rectangle 13">
            <a:extLst>
              <a:ext uri="{FF2B5EF4-FFF2-40B4-BE49-F238E27FC236}">
                <a16:creationId xmlns:a16="http://schemas.microsoft.com/office/drawing/2014/main" id="{E4A971C3-34D2-81EB-4BCD-69D7CC8C19D0}"/>
              </a:ext>
            </a:extLst>
          </p:cNvPr>
          <p:cNvSpPr/>
          <p:nvPr/>
        </p:nvSpPr>
        <p:spPr bwMode="auto">
          <a:xfrm>
            <a:off x="839416" y="4086654"/>
            <a:ext cx="4368744" cy="123273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0"/>
              </a:spcBef>
              <a:spcAft>
                <a:spcPct val="0"/>
              </a:spcAft>
              <a:buClrTx/>
              <a:buSzTx/>
              <a:buFont typeface="Arial" panose="020B0604020202020204" pitchFamily="34" charset="0"/>
              <a:buAutoNum type="arabicPeriod"/>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根据结果修正提示语</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342900" marR="0" indent="-342900" algn="l" defTabSz="914400" rtl="0" eaLnBrk="1" fontAlgn="base" latinLnBrk="0" hangingPunct="1">
              <a:lnSpc>
                <a:spcPct val="100000"/>
              </a:lnSpc>
              <a:spcBef>
                <a:spcPct val="0"/>
              </a:spcBef>
              <a:spcAft>
                <a:spcPct val="0"/>
              </a:spcAft>
              <a:buClrTx/>
              <a:buSzTx/>
              <a:buFont typeface="Arial" panose="020B0604020202020204" pitchFamily="34" charset="0"/>
              <a:buAutoNum type="arabicPeriod"/>
            </a:pPr>
            <a:r>
              <a:rPr lang="zh-CN" altLang="en-US"/>
              <a:t>找到搜索效果的原因</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6094352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42B09-3F09-A6FE-6225-3ABA3486F783}"/>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9A0707AA-3469-2612-DE14-0553A066F167}"/>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如何用（智能问答</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267F151D-DD9A-4FC7-266F-0D75754031A4}"/>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8" name="Rounded Rectangle 7">
            <a:extLst>
              <a:ext uri="{FF2B5EF4-FFF2-40B4-BE49-F238E27FC236}">
                <a16:creationId xmlns:a16="http://schemas.microsoft.com/office/drawing/2014/main" id="{43BA978D-1C36-6017-C2E2-A43BB9F9A613}"/>
              </a:ext>
            </a:extLst>
          </p:cNvPr>
          <p:cNvSpPr/>
          <p:nvPr/>
        </p:nvSpPr>
        <p:spPr bwMode="auto">
          <a:xfrm>
            <a:off x="623392" y="908720"/>
            <a:ext cx="3312368"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钢结构有哪些标准？</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Oval 3">
            <a:extLst>
              <a:ext uri="{FF2B5EF4-FFF2-40B4-BE49-F238E27FC236}">
                <a16:creationId xmlns:a16="http://schemas.microsoft.com/office/drawing/2014/main" id="{4550691A-A496-4390-C25C-12AA45926C30}"/>
              </a:ext>
            </a:extLst>
          </p:cNvPr>
          <p:cNvSpPr/>
          <p:nvPr/>
        </p:nvSpPr>
        <p:spPr bwMode="auto">
          <a:xfrm>
            <a:off x="5375920" y="2996952"/>
            <a:ext cx="1080120" cy="1080120"/>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solidFill>
                  <a:schemeClr val="bg1"/>
                </a:solidFill>
              </a:rPr>
              <a:t>钢结构</a:t>
            </a:r>
            <a:endParaRPr kumimoji="0" lang="en-US" sz="14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5" name="Rounded Rectangle 4">
            <a:extLst>
              <a:ext uri="{FF2B5EF4-FFF2-40B4-BE49-F238E27FC236}">
                <a16:creationId xmlns:a16="http://schemas.microsoft.com/office/drawing/2014/main" id="{A1F11940-479F-C743-73A0-11868718DBAB}"/>
              </a:ext>
            </a:extLst>
          </p:cNvPr>
          <p:cNvSpPr/>
          <p:nvPr/>
        </p:nvSpPr>
        <p:spPr bwMode="auto">
          <a:xfrm>
            <a:off x="839416" y="1481696"/>
            <a:ext cx="3312368"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与钢结构相关 的标准？</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Rounded Rectangle 5">
            <a:extLst>
              <a:ext uri="{FF2B5EF4-FFF2-40B4-BE49-F238E27FC236}">
                <a16:creationId xmlns:a16="http://schemas.microsoft.com/office/drawing/2014/main" id="{6DF6915D-B36E-1113-7B43-906993E996A2}"/>
              </a:ext>
            </a:extLst>
          </p:cNvPr>
          <p:cNvSpPr/>
          <p:nvPr/>
        </p:nvSpPr>
        <p:spPr bwMode="auto">
          <a:xfrm>
            <a:off x="839416" y="2132856"/>
            <a:ext cx="3312368"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Ontology</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（本体），知识体系</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Oval 6">
            <a:extLst>
              <a:ext uri="{FF2B5EF4-FFF2-40B4-BE49-F238E27FC236}">
                <a16:creationId xmlns:a16="http://schemas.microsoft.com/office/drawing/2014/main" id="{F2711D7D-0DA4-84D2-5A5B-AFB55CAFB7E2}"/>
              </a:ext>
            </a:extLst>
          </p:cNvPr>
          <p:cNvSpPr/>
          <p:nvPr/>
        </p:nvSpPr>
        <p:spPr bwMode="auto">
          <a:xfrm>
            <a:off x="7608167" y="3006038"/>
            <a:ext cx="1575089" cy="1575089"/>
          </a:xfrm>
          <a:prstGeom prst="ellipse">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bg1"/>
                </a:solidFill>
                <a:effectLst/>
                <a:latin typeface="Arial" panose="020B0604020202020204" pitchFamily="34" charset="0"/>
                <a:ea typeface="宋体" panose="02010600030101010101" pitchFamily="2" charset="-122"/>
              </a:rPr>
              <a:t>高铁轴承钢珠的难度用什么指标</a:t>
            </a:r>
            <a:r>
              <a:rPr kumimoji="0" lang="zh-CN" altLang="en-US" sz="1400" b="0" i="0" u="none" strike="noStrike" cap="none" normalizeH="0" baseline="0">
                <a:ln>
                  <a:noFill/>
                </a:ln>
                <a:solidFill>
                  <a:schemeClr val="bg1"/>
                </a:solidFill>
                <a:effectLst/>
                <a:latin typeface="Arial" panose="020B0604020202020204" pitchFamily="34" charset="0"/>
                <a:ea typeface="宋体" panose="02010600030101010101" pitchFamily="2" charset="-122"/>
              </a:rPr>
              <a:t>？</a:t>
            </a:r>
            <a:endParaRPr kumimoji="0" lang="en-US" sz="1400" b="0"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2098374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B221F-CDB6-355B-A81A-E23371954D9F}"/>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CF410607-D7D7-F756-0B58-35BFA48CB560}"/>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zh-CN" altLang="en-US" sz="1400" kern="0" dirty="0">
                <a:latin typeface="微软雅黑" panose="020B0503020204020204" pitchFamily="34" charset="-122"/>
                <a:ea typeface="微软雅黑" panose="020B0503020204020204" pitchFamily="34" charset="-122"/>
                <a:cs typeface="+mn-ea"/>
                <a:sym typeface="+mn-lt"/>
              </a:rPr>
              <a:t>如何用（智能问答</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智能搜索）</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404B7E68-58E3-AC75-FC83-A2CB9FDEF277}"/>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8" name="Rounded Rectangle 7">
            <a:extLst>
              <a:ext uri="{FF2B5EF4-FFF2-40B4-BE49-F238E27FC236}">
                <a16:creationId xmlns:a16="http://schemas.microsoft.com/office/drawing/2014/main" id="{C3F0E2D6-71D4-3C6F-1A51-1F7D1D8EBB39}"/>
              </a:ext>
            </a:extLst>
          </p:cNvPr>
          <p:cNvSpPr/>
          <p:nvPr/>
        </p:nvSpPr>
        <p:spPr bwMode="auto">
          <a:xfrm>
            <a:off x="623392" y="908720"/>
            <a:ext cx="3312368"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a:t>全面、精准、高速</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Rounded Rectangle 4">
            <a:extLst>
              <a:ext uri="{FF2B5EF4-FFF2-40B4-BE49-F238E27FC236}">
                <a16:creationId xmlns:a16="http://schemas.microsoft.com/office/drawing/2014/main" id="{F6682B7C-73FC-F46D-5AE3-9B07BFFECB01}"/>
              </a:ext>
            </a:extLst>
          </p:cNvPr>
          <p:cNvSpPr/>
          <p:nvPr/>
        </p:nvSpPr>
        <p:spPr bwMode="auto">
          <a:xfrm>
            <a:off x="839416" y="1481696"/>
            <a:ext cx="3312368"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向量库本身就不靠谱</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 name="Rounded Rectangle 1">
            <a:extLst>
              <a:ext uri="{FF2B5EF4-FFF2-40B4-BE49-F238E27FC236}">
                <a16:creationId xmlns:a16="http://schemas.microsoft.com/office/drawing/2014/main" id="{10F64144-EC58-BEB1-99C5-A64D674322E8}"/>
              </a:ext>
            </a:extLst>
          </p:cNvPr>
          <p:cNvSpPr/>
          <p:nvPr/>
        </p:nvSpPr>
        <p:spPr bwMode="auto">
          <a:xfrm>
            <a:off x="839416" y="2060847"/>
            <a:ext cx="6264696" cy="86559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342900" marR="0" indent="-342900" algn="l" defTabSz="914400" rtl="0" eaLnBrk="1" fontAlgn="base" latinLnBrk="0" hangingPunct="1">
              <a:lnSpc>
                <a:spcPct val="100000"/>
              </a:lnSpc>
              <a:spcBef>
                <a:spcPct val="0"/>
              </a:spcBef>
              <a:spcAft>
                <a:spcPct val="0"/>
              </a:spcAft>
              <a:buClrTx/>
              <a:buSzTx/>
              <a:buFont typeface="Arial" panose="020B0604020202020204" pitchFamily="34" charset="0"/>
              <a:buAutoNum type="arabicPeriod"/>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选定一本，让大模型产生</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 问题</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342900" marR="0" indent="-342900" algn="l" defTabSz="914400" rtl="0" eaLnBrk="1" fontAlgn="base" latinLnBrk="0" hangingPunct="1">
              <a:lnSpc>
                <a:spcPct val="100000"/>
              </a:lnSpc>
              <a:spcBef>
                <a:spcPct val="0"/>
              </a:spcBef>
              <a:spcAft>
                <a:spcPct val="0"/>
              </a:spcAft>
              <a:buClrTx/>
              <a:buSzTx/>
              <a:buFont typeface="Arial" panose="020B0604020202020204" pitchFamily="34" charset="0"/>
              <a:buAutoNum type="arabicPeriod"/>
            </a:pPr>
            <a:r>
              <a:rPr lang="zh-CN" altLang="en-US"/>
              <a:t>自动问这些问题，</a:t>
            </a: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5400415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C5A9F-44B1-6899-EA3B-4AFD9ACBBD14}"/>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FC576AAD-985B-261D-4DEF-4B09BFDCB2F5}"/>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用标准</a:t>
            </a:r>
          </a:p>
        </p:txBody>
      </p:sp>
      <p:sp>
        <p:nvSpPr>
          <p:cNvPr id="47" name="文本框 24">
            <a:extLst>
              <a:ext uri="{FF2B5EF4-FFF2-40B4-BE49-F238E27FC236}">
                <a16:creationId xmlns:a16="http://schemas.microsoft.com/office/drawing/2014/main" id="{D824B44B-ABEA-96C3-C631-AD3CC9DAB2C5}"/>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4" name="Rounded Rectangle 3">
            <a:extLst>
              <a:ext uri="{FF2B5EF4-FFF2-40B4-BE49-F238E27FC236}">
                <a16:creationId xmlns:a16="http://schemas.microsoft.com/office/drawing/2014/main" id="{0F699C48-161C-C39F-6A25-1544B0405A71}"/>
              </a:ext>
            </a:extLst>
          </p:cNvPr>
          <p:cNvSpPr/>
          <p:nvPr/>
        </p:nvSpPr>
        <p:spPr bwMode="auto">
          <a:xfrm>
            <a:off x="1271464" y="92730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轴承加工</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Rounded Rectangle 5">
            <a:extLst>
              <a:ext uri="{FF2B5EF4-FFF2-40B4-BE49-F238E27FC236}">
                <a16:creationId xmlns:a16="http://schemas.microsoft.com/office/drawing/2014/main" id="{DD87F535-9A41-42B7-0146-D0A21E6CE805}"/>
              </a:ext>
            </a:extLst>
          </p:cNvPr>
          <p:cNvSpPr/>
          <p:nvPr/>
        </p:nvSpPr>
        <p:spPr bwMode="auto">
          <a:xfrm>
            <a:off x="1271464" y="148478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：提供大模型了解轴承加工的流程</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Rounded Rectangle 13">
            <a:extLst>
              <a:ext uri="{FF2B5EF4-FFF2-40B4-BE49-F238E27FC236}">
                <a16:creationId xmlns:a16="http://schemas.microsoft.com/office/drawing/2014/main" id="{F59FCF18-424A-307D-1B86-AAAE4764C028}"/>
              </a:ext>
            </a:extLst>
          </p:cNvPr>
          <p:cNvSpPr/>
          <p:nvPr/>
        </p:nvSpPr>
        <p:spPr bwMode="auto">
          <a:xfrm>
            <a:off x="1271464" y="200742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提问</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：轴承的使用要求、场景是什么？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Rounded Rectangle 14">
            <a:extLst>
              <a:ext uri="{FF2B5EF4-FFF2-40B4-BE49-F238E27FC236}">
                <a16:creationId xmlns:a16="http://schemas.microsoft.com/office/drawing/2014/main" id="{48F2920E-6E33-5D72-89CD-621520989E29}"/>
              </a:ext>
            </a:extLst>
          </p:cNvPr>
          <p:cNvSpPr/>
          <p:nvPr/>
        </p:nvSpPr>
        <p:spPr bwMode="auto">
          <a:xfrm>
            <a:off x="1271464" y="253006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用户列出一组技术参数</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，并描述该轴承的使用场景</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Rounded Rectangle 15">
            <a:extLst>
              <a:ext uri="{FF2B5EF4-FFF2-40B4-BE49-F238E27FC236}">
                <a16:creationId xmlns:a16="http://schemas.microsoft.com/office/drawing/2014/main" id="{BDC10FD3-027F-5945-1FEF-618D450689DB}"/>
              </a:ext>
            </a:extLst>
          </p:cNvPr>
          <p:cNvSpPr/>
          <p:nvPr/>
        </p:nvSpPr>
        <p:spPr bwMode="auto">
          <a:xfrm>
            <a:off x="1271464" y="3067884"/>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：分析使用场景，并针对用户给的技术指标，纠错、调整、补全、建议</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Rounded Rectangle 16">
            <a:extLst>
              <a:ext uri="{FF2B5EF4-FFF2-40B4-BE49-F238E27FC236}">
                <a16:creationId xmlns:a16="http://schemas.microsoft.com/office/drawing/2014/main" id="{E7711793-4A25-F386-1BB9-3098E5627045}"/>
              </a:ext>
            </a:extLst>
          </p:cNvPr>
          <p:cNvSpPr/>
          <p:nvPr/>
        </p:nvSpPr>
        <p:spPr bwMode="auto">
          <a:xfrm>
            <a:off x="1271464" y="3693099"/>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：纠错部分（如果有的话）</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Rounded Rectangle 17">
            <a:extLst>
              <a:ext uri="{FF2B5EF4-FFF2-40B4-BE49-F238E27FC236}">
                <a16:creationId xmlns:a16="http://schemas.microsoft.com/office/drawing/2014/main" id="{23903AE8-63CE-ECA8-D70B-835158389409}"/>
              </a:ext>
            </a:extLst>
          </p:cNvPr>
          <p:cNvSpPr/>
          <p:nvPr/>
        </p:nvSpPr>
        <p:spPr bwMode="auto">
          <a:xfrm>
            <a:off x="1271464" y="4317160"/>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：调整部分（如果有的话）</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9" name="Rounded Rectangle 18">
            <a:extLst>
              <a:ext uri="{FF2B5EF4-FFF2-40B4-BE49-F238E27FC236}">
                <a16:creationId xmlns:a16="http://schemas.microsoft.com/office/drawing/2014/main" id="{21203145-1D8F-3A41-495D-C04C49EBBE5F}"/>
              </a:ext>
            </a:extLst>
          </p:cNvPr>
          <p:cNvSpPr/>
          <p:nvPr/>
        </p:nvSpPr>
        <p:spPr bwMode="auto">
          <a:xfrm>
            <a:off x="1271464" y="4977592"/>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200"/>
              <a:t>…</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Rounded Rectangle 19">
            <a:extLst>
              <a:ext uri="{FF2B5EF4-FFF2-40B4-BE49-F238E27FC236}">
                <a16:creationId xmlns:a16="http://schemas.microsoft.com/office/drawing/2014/main" id="{6A6E3CFD-8331-A4D2-2DB9-901C990E7D2C}"/>
              </a:ext>
            </a:extLst>
          </p:cNvPr>
          <p:cNvSpPr/>
          <p:nvPr/>
        </p:nvSpPr>
        <p:spPr bwMode="auto">
          <a:xfrm>
            <a:off x="5303914" y="92730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用户根据Agent给的纠错</a:t>
            </a:r>
            <a:r>
              <a:rPr lang="zh-CN" altLang="en-US" sz="1200"/>
              <a:t>、调整、补全、建议，提供自己的反馈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Rounded Rectangle 20">
            <a:extLst>
              <a:ext uri="{FF2B5EF4-FFF2-40B4-BE49-F238E27FC236}">
                <a16:creationId xmlns:a16="http://schemas.microsoft.com/office/drawing/2014/main" id="{B4A5BF19-2585-3C85-B050-9BAA739C1E93}"/>
              </a:ext>
            </a:extLst>
          </p:cNvPr>
          <p:cNvSpPr/>
          <p:nvPr/>
        </p:nvSpPr>
        <p:spPr bwMode="auto">
          <a:xfrm>
            <a:off x="5303914" y="148478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：分析用户的反馈，修改方案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2" name="Rounded Rectangle 21">
            <a:extLst>
              <a:ext uri="{FF2B5EF4-FFF2-40B4-BE49-F238E27FC236}">
                <a16:creationId xmlns:a16="http://schemas.microsoft.com/office/drawing/2014/main" id="{405D4B8A-EE69-ED5C-E774-8829FA9F1E0F}"/>
              </a:ext>
            </a:extLst>
          </p:cNvPr>
          <p:cNvSpPr/>
          <p:nvPr/>
        </p:nvSpPr>
        <p:spPr bwMode="auto">
          <a:xfrm>
            <a:off x="5303914" y="200742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重复上述步骤</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，直到与用户达成一致</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3" name="Rounded Rectangle 22">
            <a:extLst>
              <a:ext uri="{FF2B5EF4-FFF2-40B4-BE49-F238E27FC236}">
                <a16:creationId xmlns:a16="http://schemas.microsoft.com/office/drawing/2014/main" id="{DD3094F7-2D0B-C177-7ADB-ECE5FB1FD8DA}"/>
              </a:ext>
            </a:extLst>
          </p:cNvPr>
          <p:cNvSpPr/>
          <p:nvPr/>
        </p:nvSpPr>
        <p:spPr bwMode="auto">
          <a:xfrm>
            <a:off x="5303914" y="253006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：根据建立的方案，从第一步开始</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Rounded Rectangle 23">
            <a:extLst>
              <a:ext uri="{FF2B5EF4-FFF2-40B4-BE49-F238E27FC236}">
                <a16:creationId xmlns:a16="http://schemas.microsoft.com/office/drawing/2014/main" id="{0387B387-311E-0196-226B-B2EA528E1039}"/>
              </a:ext>
            </a:extLst>
          </p:cNvPr>
          <p:cNvSpPr/>
          <p:nvPr/>
        </p:nvSpPr>
        <p:spPr bwMode="auto">
          <a:xfrm>
            <a:off x="5303914" y="3067883"/>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：根据当前步骤，搜索本地数据</a:t>
            </a: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大模型知识，分析当前步骤应该做什么、如何做</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Rounded Rectangle 25">
            <a:extLst>
              <a:ext uri="{FF2B5EF4-FFF2-40B4-BE49-F238E27FC236}">
                <a16:creationId xmlns:a16="http://schemas.microsoft.com/office/drawing/2014/main" id="{6458A9E3-AFFC-4779-F91C-6E827BF7FA38}"/>
              </a:ext>
            </a:extLst>
          </p:cNvPr>
          <p:cNvSpPr/>
          <p:nvPr/>
        </p:nvSpPr>
        <p:spPr bwMode="auto">
          <a:xfrm>
            <a:off x="5303914" y="3693098"/>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：形成初步方案，反馈给用户</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7" name="Rounded Rectangle 26">
            <a:extLst>
              <a:ext uri="{FF2B5EF4-FFF2-40B4-BE49-F238E27FC236}">
                <a16:creationId xmlns:a16="http://schemas.microsoft.com/office/drawing/2014/main" id="{CED1D60B-1873-C331-CAA0-9E55C7C3AB11}"/>
              </a:ext>
            </a:extLst>
          </p:cNvPr>
          <p:cNvSpPr/>
          <p:nvPr/>
        </p:nvSpPr>
        <p:spPr bwMode="auto">
          <a:xfrm>
            <a:off x="5309759" y="4317160"/>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用户根据Agent给的方案</a:t>
            </a:r>
            <a:r>
              <a:rPr lang="zh-CN" altLang="en-US" sz="1200"/>
              <a:t>，确定是否正确</a:t>
            </a:r>
            <a:r>
              <a:rPr lang="en-US" altLang="zh-CN" sz="1200"/>
              <a:t>…</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380912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dissolv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ssolv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dissolv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dissolv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dissolve">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dissolve">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dissolv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9168-5B1D-C642-E326-AA570D464261}"/>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AE31242E-A137-389C-AE60-200293B50B0B}"/>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用标准</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轴承</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EAE57FDA-1FC2-8737-933B-27F79C10D4D7}"/>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4" name="Rounded Rectangle 3">
            <a:extLst>
              <a:ext uri="{FF2B5EF4-FFF2-40B4-BE49-F238E27FC236}">
                <a16:creationId xmlns:a16="http://schemas.microsoft.com/office/drawing/2014/main" id="{8E01C235-2735-87C0-0DF6-B5F896B5A22B}"/>
              </a:ext>
            </a:extLst>
          </p:cNvPr>
          <p:cNvSpPr/>
          <p:nvPr/>
        </p:nvSpPr>
        <p:spPr bwMode="auto">
          <a:xfrm>
            <a:off x="1271464" y="92730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轴承加工</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Rounded Rectangle 5">
            <a:extLst>
              <a:ext uri="{FF2B5EF4-FFF2-40B4-BE49-F238E27FC236}">
                <a16:creationId xmlns:a16="http://schemas.microsoft.com/office/drawing/2014/main" id="{1B1DBE24-40E0-0474-82EF-9928B41C35C3}"/>
              </a:ext>
            </a:extLst>
          </p:cNvPr>
          <p:cNvSpPr/>
          <p:nvPr/>
        </p:nvSpPr>
        <p:spPr bwMode="auto">
          <a:xfrm>
            <a:off x="1271464" y="148478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：提供大模型了解轴承加工的流程</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Rounded Rectangle 13">
            <a:extLst>
              <a:ext uri="{FF2B5EF4-FFF2-40B4-BE49-F238E27FC236}">
                <a16:creationId xmlns:a16="http://schemas.microsoft.com/office/drawing/2014/main" id="{1D6B9E9F-C75F-0136-E4BB-992AAB2E8975}"/>
              </a:ext>
            </a:extLst>
          </p:cNvPr>
          <p:cNvSpPr/>
          <p:nvPr/>
        </p:nvSpPr>
        <p:spPr bwMode="auto">
          <a:xfrm>
            <a:off x="1271464" y="200742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提问</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：轴承的使用要求、场景是什么？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Rounded Rectangle 14">
            <a:extLst>
              <a:ext uri="{FF2B5EF4-FFF2-40B4-BE49-F238E27FC236}">
                <a16:creationId xmlns:a16="http://schemas.microsoft.com/office/drawing/2014/main" id="{79B75A92-7F2B-4A20-1AB0-2DF3483C9D25}"/>
              </a:ext>
            </a:extLst>
          </p:cNvPr>
          <p:cNvSpPr/>
          <p:nvPr/>
        </p:nvSpPr>
        <p:spPr bwMode="auto">
          <a:xfrm>
            <a:off x="1271464" y="253006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用户列出一组技术参数</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，并描述该轴承的使用场景</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Rounded Rectangle 15">
            <a:extLst>
              <a:ext uri="{FF2B5EF4-FFF2-40B4-BE49-F238E27FC236}">
                <a16:creationId xmlns:a16="http://schemas.microsoft.com/office/drawing/2014/main" id="{1E04EA12-D4C5-0C2F-8AB4-915D6435EDEE}"/>
              </a:ext>
            </a:extLst>
          </p:cNvPr>
          <p:cNvSpPr/>
          <p:nvPr/>
        </p:nvSpPr>
        <p:spPr bwMode="auto">
          <a:xfrm>
            <a:off x="1271464" y="3067884"/>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：分析使用场景，并针对用户给的技术指标，纠错、调整、补全、建议</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Rounded Rectangle 16">
            <a:extLst>
              <a:ext uri="{FF2B5EF4-FFF2-40B4-BE49-F238E27FC236}">
                <a16:creationId xmlns:a16="http://schemas.microsoft.com/office/drawing/2014/main" id="{7488A470-1332-683E-D799-1BB4EC5CB5F4}"/>
              </a:ext>
            </a:extLst>
          </p:cNvPr>
          <p:cNvSpPr/>
          <p:nvPr/>
        </p:nvSpPr>
        <p:spPr bwMode="auto">
          <a:xfrm>
            <a:off x="1271464" y="3693099"/>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：纠错部分（如果有的话）</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8" name="Rounded Rectangle 17">
            <a:extLst>
              <a:ext uri="{FF2B5EF4-FFF2-40B4-BE49-F238E27FC236}">
                <a16:creationId xmlns:a16="http://schemas.microsoft.com/office/drawing/2014/main" id="{544A535C-894A-52B8-6F39-FBC5C4E94F9F}"/>
              </a:ext>
            </a:extLst>
          </p:cNvPr>
          <p:cNvSpPr/>
          <p:nvPr/>
        </p:nvSpPr>
        <p:spPr bwMode="auto">
          <a:xfrm>
            <a:off x="1271464" y="4317160"/>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：调整部分（如果有的话）</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9" name="Rounded Rectangle 18">
            <a:extLst>
              <a:ext uri="{FF2B5EF4-FFF2-40B4-BE49-F238E27FC236}">
                <a16:creationId xmlns:a16="http://schemas.microsoft.com/office/drawing/2014/main" id="{862910BE-DAD2-874C-4938-99699530E467}"/>
              </a:ext>
            </a:extLst>
          </p:cNvPr>
          <p:cNvSpPr/>
          <p:nvPr/>
        </p:nvSpPr>
        <p:spPr bwMode="auto">
          <a:xfrm>
            <a:off x="1271464" y="4977592"/>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altLang="zh-CN" sz="1200"/>
              <a:t>…</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Rounded Rectangle 19">
            <a:extLst>
              <a:ext uri="{FF2B5EF4-FFF2-40B4-BE49-F238E27FC236}">
                <a16:creationId xmlns:a16="http://schemas.microsoft.com/office/drawing/2014/main" id="{0503A096-5A73-D444-8686-B8799961E3FA}"/>
              </a:ext>
            </a:extLst>
          </p:cNvPr>
          <p:cNvSpPr/>
          <p:nvPr/>
        </p:nvSpPr>
        <p:spPr bwMode="auto">
          <a:xfrm>
            <a:off x="5303914" y="927304"/>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用户根据Agent给的纠错</a:t>
            </a:r>
            <a:r>
              <a:rPr lang="zh-CN" altLang="en-US" sz="1200"/>
              <a:t>、调整、补全、建议，提供自己的反馈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Rounded Rectangle 20">
            <a:extLst>
              <a:ext uri="{FF2B5EF4-FFF2-40B4-BE49-F238E27FC236}">
                <a16:creationId xmlns:a16="http://schemas.microsoft.com/office/drawing/2014/main" id="{D66A46FE-C68F-6496-5EF7-0CF72C27E4C4}"/>
              </a:ext>
            </a:extLst>
          </p:cNvPr>
          <p:cNvSpPr/>
          <p:nvPr/>
        </p:nvSpPr>
        <p:spPr bwMode="auto">
          <a:xfrm>
            <a:off x="5303914" y="148478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：分析用户的反馈，修改方案</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2" name="Rounded Rectangle 21">
            <a:extLst>
              <a:ext uri="{FF2B5EF4-FFF2-40B4-BE49-F238E27FC236}">
                <a16:creationId xmlns:a16="http://schemas.microsoft.com/office/drawing/2014/main" id="{E3BD8038-1037-4127-1ABF-2557A65BF4BB}"/>
              </a:ext>
            </a:extLst>
          </p:cNvPr>
          <p:cNvSpPr/>
          <p:nvPr/>
        </p:nvSpPr>
        <p:spPr bwMode="auto">
          <a:xfrm>
            <a:off x="5303914" y="200742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重复上述步骤</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，直到与用户达成一致</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3" name="Rounded Rectangle 22">
            <a:extLst>
              <a:ext uri="{FF2B5EF4-FFF2-40B4-BE49-F238E27FC236}">
                <a16:creationId xmlns:a16="http://schemas.microsoft.com/office/drawing/2014/main" id="{36F05E11-E8FA-7311-B6D2-F017DC380BFE}"/>
              </a:ext>
            </a:extLst>
          </p:cNvPr>
          <p:cNvSpPr/>
          <p:nvPr/>
        </p:nvSpPr>
        <p:spPr bwMode="auto">
          <a:xfrm>
            <a:off x="5303914" y="2530064"/>
            <a:ext cx="3744416" cy="4320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：根据建立的方案，从第一步开始</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4" name="Rounded Rectangle 23">
            <a:extLst>
              <a:ext uri="{FF2B5EF4-FFF2-40B4-BE49-F238E27FC236}">
                <a16:creationId xmlns:a16="http://schemas.microsoft.com/office/drawing/2014/main" id="{E4810DD0-6424-EC15-FDA0-8A9E7B94E930}"/>
              </a:ext>
            </a:extLst>
          </p:cNvPr>
          <p:cNvSpPr/>
          <p:nvPr/>
        </p:nvSpPr>
        <p:spPr bwMode="auto">
          <a:xfrm>
            <a:off x="5303914" y="3067883"/>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思考</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：根据当前步骤，搜索本地数据</a:t>
            </a: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大模型知识，分析当前步骤应该做什么、如何做</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6" name="Rounded Rectangle 25">
            <a:extLst>
              <a:ext uri="{FF2B5EF4-FFF2-40B4-BE49-F238E27FC236}">
                <a16:creationId xmlns:a16="http://schemas.microsoft.com/office/drawing/2014/main" id="{AB116B88-AA15-31F8-195A-49AEBA23BE5F}"/>
              </a:ext>
            </a:extLst>
          </p:cNvPr>
          <p:cNvSpPr/>
          <p:nvPr/>
        </p:nvSpPr>
        <p:spPr bwMode="auto">
          <a:xfrm>
            <a:off x="5303914" y="3693098"/>
            <a:ext cx="3744416" cy="523715"/>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200"/>
              <a:t>反馈</a:t>
            </a:r>
            <a:r>
              <a:rPr kumimoji="0" lang="zh-CN" alt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rPr>
              <a:t>：形成初步方案，反馈给用户</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7" name="Rounded Rectangle 26">
            <a:extLst>
              <a:ext uri="{FF2B5EF4-FFF2-40B4-BE49-F238E27FC236}">
                <a16:creationId xmlns:a16="http://schemas.microsoft.com/office/drawing/2014/main" id="{A3FB4718-0FE0-D8B3-EA78-B8E8414D0AFE}"/>
              </a:ext>
            </a:extLst>
          </p:cNvPr>
          <p:cNvSpPr/>
          <p:nvPr/>
        </p:nvSpPr>
        <p:spPr bwMode="auto">
          <a:xfrm>
            <a:off x="5309759" y="4317160"/>
            <a:ext cx="3744416" cy="432048"/>
          </a:xfrm>
          <a:prstGeom prst="roundRect">
            <a:avLst/>
          </a:prstGeom>
          <a:solidFill>
            <a:schemeClr val="accent2">
              <a:lumMod val="40000"/>
              <a:lumOff val="6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200"/>
              <a:t>用户根据Agent给的方案</a:t>
            </a:r>
            <a:r>
              <a:rPr lang="zh-CN" altLang="en-US" sz="1200"/>
              <a:t>，确定是否正确</a:t>
            </a:r>
            <a:r>
              <a:rPr lang="en-US" altLang="zh-CN" sz="1200"/>
              <a:t>…</a:t>
            </a:r>
            <a:endParaRPr kumimoji="0" lang="en-US" sz="12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596016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dissolv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dissolv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dissolv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dissolv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dissolve">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dissolve">
                                      <p:cBhvr>
                                        <p:cTn id="47" dur="500"/>
                                        <p:tgtEl>
                                          <p:spTgt spid="2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dissolve">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dissolve">
                                      <p:cBhvr>
                                        <p:cTn id="57" dur="500"/>
                                        <p:tgtEl>
                                          <p:spTgt spid="22"/>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dissolve">
                                      <p:cBhvr>
                                        <p:cTn id="62" dur="500"/>
                                        <p:tgtEl>
                                          <p:spTgt spid="23"/>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dissolve">
                                      <p:cBhvr>
                                        <p:cTn id="67" dur="500"/>
                                        <p:tgtEl>
                                          <p:spTgt spid="2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dissolve">
                                      <p:cBhvr>
                                        <p:cTn id="72" dur="500"/>
                                        <p:tgtEl>
                                          <p:spTgt spid="26"/>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grpId="0" nodeType="click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dissolv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6" grpId="0" animBg="1"/>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38E9-0566-8643-802F-4ED49A810D9C}"/>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1D25C065-725B-AFA2-FD37-14684813CC74}"/>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知识冶炼</a:t>
            </a:r>
          </a:p>
        </p:txBody>
      </p:sp>
      <p:sp>
        <p:nvSpPr>
          <p:cNvPr id="47" name="文本框 24">
            <a:extLst>
              <a:ext uri="{FF2B5EF4-FFF2-40B4-BE49-F238E27FC236}">
                <a16:creationId xmlns:a16="http://schemas.microsoft.com/office/drawing/2014/main" id="{44D065B0-1E43-A78B-A434-E8A65919CE9C}"/>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3" name="TextBox 2">
            <a:extLst>
              <a:ext uri="{FF2B5EF4-FFF2-40B4-BE49-F238E27FC236}">
                <a16:creationId xmlns:a16="http://schemas.microsoft.com/office/drawing/2014/main" id="{74633C06-0FFA-EC7F-C37A-BE5F2B919845}"/>
              </a:ext>
            </a:extLst>
          </p:cNvPr>
          <p:cNvSpPr txBox="1"/>
          <p:nvPr/>
        </p:nvSpPr>
        <p:spPr>
          <a:xfrm>
            <a:off x="839416" y="692696"/>
            <a:ext cx="10369152" cy="369332"/>
          </a:xfrm>
          <a:prstGeom prst="rect">
            <a:avLst/>
          </a:prstGeom>
          <a:noFill/>
        </p:spPr>
        <p:txBody>
          <a:bodyPr wrap="square" rtlCol="0">
            <a:spAutoFit/>
          </a:bodyPr>
          <a:lstStyle/>
          <a:p>
            <a:pPr marL="342900" indent="-342900">
              <a:buFont typeface="+mj-lt"/>
              <a:buAutoNum type="arabicPeriod"/>
            </a:pPr>
            <a:r>
              <a:rPr lang="en-US"/>
              <a:t>卖不动</a:t>
            </a:r>
          </a:p>
        </p:txBody>
      </p:sp>
    </p:spTree>
    <p:extLst>
      <p:ext uri="{BB962C8B-B14F-4D97-AF65-F5344CB8AC3E}">
        <p14:creationId xmlns:p14="http://schemas.microsoft.com/office/powerpoint/2010/main" val="3737288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3A45-2021-819C-8CAF-37E167B0634C}"/>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A7B5B96D-626C-8EA1-9581-D41DCFE558EC}"/>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Skill</a:t>
            </a:r>
          </a:p>
        </p:txBody>
      </p:sp>
      <p:sp>
        <p:nvSpPr>
          <p:cNvPr id="47" name="文本框 24">
            <a:extLst>
              <a:ext uri="{FF2B5EF4-FFF2-40B4-BE49-F238E27FC236}">
                <a16:creationId xmlns:a16="http://schemas.microsoft.com/office/drawing/2014/main" id="{BAB21A7A-ACE9-BB24-6A66-C8B917BE1617}"/>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3" name="TextBox 2">
            <a:extLst>
              <a:ext uri="{FF2B5EF4-FFF2-40B4-BE49-F238E27FC236}">
                <a16:creationId xmlns:a16="http://schemas.microsoft.com/office/drawing/2014/main" id="{F7FE96ED-3A04-680A-A417-E36739333547}"/>
              </a:ext>
            </a:extLst>
          </p:cNvPr>
          <p:cNvSpPr txBox="1"/>
          <p:nvPr/>
        </p:nvSpPr>
        <p:spPr>
          <a:xfrm>
            <a:off x="839416" y="692696"/>
            <a:ext cx="1018227" cy="369332"/>
          </a:xfrm>
          <a:prstGeom prst="rect">
            <a:avLst/>
          </a:prstGeom>
          <a:noFill/>
        </p:spPr>
        <p:txBody>
          <a:bodyPr wrap="none" rtlCol="0">
            <a:spAutoFit/>
          </a:bodyPr>
          <a:lstStyle/>
          <a:p>
            <a:pPr marL="342900" indent="-342900">
              <a:buFont typeface="+mj-lt"/>
              <a:buAutoNum type="arabicPeriod"/>
            </a:pPr>
            <a:r>
              <a:rPr lang="en-US"/>
              <a:t>Skill</a:t>
            </a:r>
            <a:r>
              <a:rPr lang="zh-CN" altLang="en-US"/>
              <a:t> </a:t>
            </a:r>
            <a:endParaRPr lang="en-US"/>
          </a:p>
        </p:txBody>
      </p:sp>
    </p:spTree>
    <p:extLst>
      <p:ext uri="{BB962C8B-B14F-4D97-AF65-F5344CB8AC3E}">
        <p14:creationId xmlns:p14="http://schemas.microsoft.com/office/powerpoint/2010/main" val="37986370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8F9B5-06DB-8962-D7C5-1566C1FCB154}"/>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F794BC4E-0639-9546-3980-4F2F5D2B00B3}"/>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Skill</a:t>
            </a:r>
          </a:p>
        </p:txBody>
      </p:sp>
      <p:sp>
        <p:nvSpPr>
          <p:cNvPr id="47" name="文本框 24">
            <a:extLst>
              <a:ext uri="{FF2B5EF4-FFF2-40B4-BE49-F238E27FC236}">
                <a16:creationId xmlns:a16="http://schemas.microsoft.com/office/drawing/2014/main" id="{11701524-170F-2379-7748-B626B56FCE93}"/>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3" name="TextBox 2">
            <a:extLst>
              <a:ext uri="{FF2B5EF4-FFF2-40B4-BE49-F238E27FC236}">
                <a16:creationId xmlns:a16="http://schemas.microsoft.com/office/drawing/2014/main" id="{7B43F7B9-4A1C-2F86-BAD3-0DE8E2427C0A}"/>
              </a:ext>
            </a:extLst>
          </p:cNvPr>
          <p:cNvSpPr txBox="1"/>
          <p:nvPr/>
        </p:nvSpPr>
        <p:spPr>
          <a:xfrm>
            <a:off x="839416" y="692696"/>
            <a:ext cx="1018227" cy="369332"/>
          </a:xfrm>
          <a:prstGeom prst="rect">
            <a:avLst/>
          </a:prstGeom>
          <a:noFill/>
        </p:spPr>
        <p:txBody>
          <a:bodyPr wrap="none" rtlCol="0">
            <a:spAutoFit/>
          </a:bodyPr>
          <a:lstStyle/>
          <a:p>
            <a:pPr marL="342900" indent="-342900">
              <a:buFont typeface="+mj-lt"/>
              <a:buAutoNum type="arabicPeriod"/>
            </a:pPr>
            <a:r>
              <a:rPr lang="en-US"/>
              <a:t>Skill</a:t>
            </a:r>
            <a:r>
              <a:rPr lang="zh-CN" altLang="en-US"/>
              <a:t> </a:t>
            </a:r>
            <a:endParaRPr lang="en-US"/>
          </a:p>
        </p:txBody>
      </p:sp>
    </p:spTree>
    <p:extLst>
      <p:ext uri="{BB962C8B-B14F-4D97-AF65-F5344CB8AC3E}">
        <p14:creationId xmlns:p14="http://schemas.microsoft.com/office/powerpoint/2010/main" val="20068934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FFF2A-2150-8380-B569-E0467FD3D598}"/>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99DC6ED5-D65A-599D-E089-0BC92D34B79F}"/>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a:t>
            </a:r>
            <a:r>
              <a:rPr lang="en-US" altLang="zh-CN" sz="1400" kern="0" dirty="0">
                <a:latin typeface="微软雅黑" panose="020B0503020204020204" pitchFamily="34" charset="-122"/>
                <a:ea typeface="微软雅黑" panose="020B0503020204020204" pitchFamily="34" charset="-122"/>
                <a:cs typeface="+mn-ea"/>
                <a:sym typeface="+mn-lt"/>
              </a:rPr>
              <a:t>01</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订阅</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AB378966-3BED-DBF9-1DAE-2B1FA0A1EAE4}"/>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8" name="Group 7">
            <a:extLst>
              <a:ext uri="{FF2B5EF4-FFF2-40B4-BE49-F238E27FC236}">
                <a16:creationId xmlns:a16="http://schemas.microsoft.com/office/drawing/2014/main" id="{F70E3978-D2CD-EE2D-455C-C7E006668367}"/>
              </a:ext>
            </a:extLst>
          </p:cNvPr>
          <p:cNvGrpSpPr/>
          <p:nvPr/>
        </p:nvGrpSpPr>
        <p:grpSpPr>
          <a:xfrm>
            <a:off x="484384" y="664762"/>
            <a:ext cx="10868200" cy="345094"/>
            <a:chOff x="340368" y="1701342"/>
            <a:chExt cx="10868200" cy="345094"/>
          </a:xfrm>
        </p:grpSpPr>
        <p:sp>
          <p:nvSpPr>
            <p:cNvPr id="6" name="Rounded Rectangle 5">
              <a:extLst>
                <a:ext uri="{FF2B5EF4-FFF2-40B4-BE49-F238E27FC236}">
                  <a16:creationId xmlns:a16="http://schemas.microsoft.com/office/drawing/2014/main" id="{9CF83D6C-B8C1-B6C7-828C-1F21D9C98279}"/>
                </a:ext>
              </a:extLst>
            </p:cNvPr>
            <p:cNvSpPr/>
            <p:nvPr/>
          </p:nvSpPr>
          <p:spPr bwMode="auto">
            <a:xfrm>
              <a:off x="1775520" y="1701342"/>
              <a:ext cx="9433048" cy="345094"/>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已经实现</a:t>
              </a: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，但订阅不仅要订阅已有的标准，还要按照主题、阶段数据、情报订阅等各种条件订阅</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Rounded Rectangle 6">
              <a:extLst>
                <a:ext uri="{FF2B5EF4-FFF2-40B4-BE49-F238E27FC236}">
                  <a16:creationId xmlns:a16="http://schemas.microsoft.com/office/drawing/2014/main" id="{9ED3327A-7B51-2F88-502F-1FB9DD4AECD4}"/>
                </a:ext>
              </a:extLst>
            </p:cNvPr>
            <p:cNvSpPr/>
            <p:nvPr/>
          </p:nvSpPr>
          <p:spPr bwMode="auto">
            <a:xfrm>
              <a:off x="340368" y="1701342"/>
              <a:ext cx="1332148" cy="345094"/>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订阅基本功能</a:t>
              </a:r>
            </a:p>
          </p:txBody>
        </p:sp>
      </p:grpSp>
    </p:spTree>
    <p:extLst>
      <p:ext uri="{BB962C8B-B14F-4D97-AF65-F5344CB8AC3E}">
        <p14:creationId xmlns:p14="http://schemas.microsoft.com/office/powerpoint/2010/main" val="52659185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0B3B7-D40D-4C68-AFAE-4396DDC2C5BF}"/>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8440E0DC-1914-FAD9-22D9-3F948332A57F}"/>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a:t>
            </a:r>
            <a:r>
              <a:rPr lang="en-US" altLang="zh-CN" sz="1400" kern="0" dirty="0">
                <a:latin typeface="微软雅黑" panose="020B0503020204020204" pitchFamily="34" charset="-122"/>
                <a:ea typeface="微软雅黑" panose="020B0503020204020204" pitchFamily="34" charset="-122"/>
                <a:cs typeface="+mn-ea"/>
                <a:sym typeface="+mn-lt"/>
              </a:rPr>
              <a:t>02</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标准新老版本差异分析</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C9500D5F-9BB2-7C98-28A7-679954588D7C}"/>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9" name="Group 8">
            <a:extLst>
              <a:ext uri="{FF2B5EF4-FFF2-40B4-BE49-F238E27FC236}">
                <a16:creationId xmlns:a16="http://schemas.microsoft.com/office/drawing/2014/main" id="{ED67C393-E9C7-D709-DA1E-7029964EB18B}"/>
              </a:ext>
            </a:extLst>
          </p:cNvPr>
          <p:cNvGrpSpPr/>
          <p:nvPr/>
        </p:nvGrpSpPr>
        <p:grpSpPr>
          <a:xfrm>
            <a:off x="362000" y="815592"/>
            <a:ext cx="10868200" cy="1533287"/>
            <a:chOff x="340368" y="1701341"/>
            <a:chExt cx="10868200" cy="1533287"/>
          </a:xfrm>
        </p:grpSpPr>
        <p:sp>
          <p:nvSpPr>
            <p:cNvPr id="10" name="Rounded Rectangle 9">
              <a:extLst>
                <a:ext uri="{FF2B5EF4-FFF2-40B4-BE49-F238E27FC236}">
                  <a16:creationId xmlns:a16="http://schemas.microsoft.com/office/drawing/2014/main" id="{0D20EAEF-D8F9-8DEC-D502-9B46CB8BED93}"/>
                </a:ext>
              </a:extLst>
            </p:cNvPr>
            <p:cNvSpPr/>
            <p:nvPr/>
          </p:nvSpPr>
          <p:spPr bwMode="auto">
            <a:xfrm>
              <a:off x="1775520" y="1701341"/>
              <a:ext cx="9433048" cy="1533287"/>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分析老版本和新版本的差别。</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a:t>算法：将文本按一定的语义单元（一般按照</a:t>
              </a:r>
              <a:r>
                <a:rPr lang="en-US" altLang="zh-CN" sz="1400"/>
                <a:t>Section</a:t>
              </a:r>
              <a:r>
                <a:rPr lang="zh-CN" altLang="en-US" sz="1400"/>
                <a:t>，但应视</a:t>
              </a:r>
              <a:r>
                <a:rPr lang="en-US" altLang="zh-CN" sz="1400"/>
                <a:t>Section</a:t>
              </a:r>
              <a:r>
                <a:rPr lang="zh-CN" altLang="en-US" sz="1400"/>
                <a:t>大小，太大的要切分），通过智能搜索，找到内容类似的</a:t>
              </a:r>
              <a:r>
                <a:rPr lang="en-US" altLang="zh-CN" sz="1400"/>
                <a:t>Chunks</a:t>
              </a:r>
              <a:r>
                <a:rPr lang="zh-CN" altLang="en-US" sz="1400"/>
                <a:t>，拟合度应该足够高。将收集到的内容</a:t>
              </a:r>
              <a:r>
                <a:rPr lang="en-US" altLang="zh-CN" sz="1400"/>
                <a:t>+</a:t>
              </a:r>
              <a:r>
                <a:rPr lang="zh-CN" altLang="en-US" sz="1400"/>
                <a:t>提示语交给大模型分析。</a:t>
              </a:r>
              <a:endParaRPr lang="en-US" altLang="zh-CN" sz="140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en-US" altLang="zh-CN" sz="140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参考：国网的标准差异性分析</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Rounded Rectangle 10">
              <a:extLst>
                <a:ext uri="{FF2B5EF4-FFF2-40B4-BE49-F238E27FC236}">
                  <a16:creationId xmlns:a16="http://schemas.microsoft.com/office/drawing/2014/main" id="{719598E4-9562-FF80-F5DA-48C08BF530E2}"/>
                </a:ext>
              </a:extLst>
            </p:cNvPr>
            <p:cNvSpPr/>
            <p:nvPr/>
          </p:nvSpPr>
          <p:spPr bwMode="auto">
            <a:xfrm>
              <a:off x="340368" y="1701342"/>
              <a:ext cx="1332148" cy="345094"/>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版本差异分析</a:t>
              </a:r>
            </a:p>
          </p:txBody>
        </p:sp>
        <p:sp>
          <p:nvSpPr>
            <p:cNvPr id="21" name="Rounded Rectangle 20">
              <a:extLst>
                <a:ext uri="{FF2B5EF4-FFF2-40B4-BE49-F238E27FC236}">
                  <a16:creationId xmlns:a16="http://schemas.microsoft.com/office/drawing/2014/main" id="{9AEBDE3C-8951-0C75-2DB7-994A99E0CBFA}"/>
                </a:ext>
              </a:extLst>
            </p:cNvPr>
            <p:cNvSpPr/>
            <p:nvPr/>
          </p:nvSpPr>
          <p:spPr bwMode="auto">
            <a:xfrm>
              <a:off x="340368" y="2193733"/>
              <a:ext cx="1332148" cy="608847"/>
            </a:xfrm>
            <a:prstGeom prst="roundRect">
              <a:avLst>
                <a:gd name="adj" fmla="val 8581"/>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写</a:t>
              </a: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标准</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用标准</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427837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2E5CD-A0F7-220E-9A3E-2AE89E0DDD57}"/>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2D5DD86E-6999-002E-9BBF-7F35428135BF}"/>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0</a:t>
            </a:r>
            <a:r>
              <a:rPr lang="en-US" altLang="zh-CN" sz="1400" kern="0" dirty="0">
                <a:latin typeface="微软雅黑" panose="020B0503020204020204" pitchFamily="34" charset="-122"/>
                <a:ea typeface="微软雅黑" panose="020B0503020204020204" pitchFamily="34" charset="-122"/>
                <a:cs typeface="+mn-ea"/>
                <a:sym typeface="+mn-lt"/>
              </a:rPr>
              <a:t>3</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标准引用规范</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2D6E3101-3C2D-F645-88B1-3BF7C1D06A9A}"/>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8" name="Group 7">
            <a:extLst>
              <a:ext uri="{FF2B5EF4-FFF2-40B4-BE49-F238E27FC236}">
                <a16:creationId xmlns:a16="http://schemas.microsoft.com/office/drawing/2014/main" id="{2A2C62DE-62E1-0222-1B44-993DDCB9EEEB}"/>
              </a:ext>
            </a:extLst>
          </p:cNvPr>
          <p:cNvGrpSpPr/>
          <p:nvPr/>
        </p:nvGrpSpPr>
        <p:grpSpPr>
          <a:xfrm>
            <a:off x="362000" y="815593"/>
            <a:ext cx="10850360" cy="2613407"/>
            <a:chOff x="362000" y="815593"/>
            <a:chExt cx="10850360" cy="2613407"/>
          </a:xfrm>
        </p:grpSpPr>
        <p:sp>
          <p:nvSpPr>
            <p:cNvPr id="5" name="Rounded Rectangle 4">
              <a:extLst>
                <a:ext uri="{FF2B5EF4-FFF2-40B4-BE49-F238E27FC236}">
                  <a16:creationId xmlns:a16="http://schemas.microsoft.com/office/drawing/2014/main" id="{AAE84841-43B4-AA17-1F6D-E2BAAC6F80B0}"/>
                </a:ext>
              </a:extLst>
            </p:cNvPr>
            <p:cNvSpPr/>
            <p:nvPr/>
          </p:nvSpPr>
          <p:spPr bwMode="auto">
            <a:xfrm>
              <a:off x="1779312" y="815593"/>
              <a:ext cx="9433048" cy="2613407"/>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问题：引用不一致：设计文件中存在法规标准引用的名称、编号及版本与现行法规不一致现象，传统人工核查海量文档效率低下且容易遗漏；</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b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b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如果是审标准，只针对所审标准；如果是用标准，需要对公司内部的所有文档通过知识冶炼将其变成大模型可以读得懂的数据。</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en-US" altLang="zh-CN" sz="140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a:t>引用规范库：每个企业可能使用不同的规范库，可以个性化</a:t>
              </a:r>
              <a:endParaRPr lang="en-US" altLang="zh-CN" sz="140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lang="en-US" altLang="zh-CN" sz="140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算法：</a:t>
              </a:r>
              <a:endParaRPr kumimoji="0" lang="en-US" altLang="zh-CN"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400"/>
                <a:t>对一个文档（可能是标准、有可能不是标准），通过提示语，对全文进行分析，检查不符合规范库中的规定，并给出分析报告。</a:t>
              </a:r>
              <a:endParaRPr kumimoji="0" lang="zh-CN" alt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6" name="Rounded Rectangle 5">
              <a:extLst>
                <a:ext uri="{FF2B5EF4-FFF2-40B4-BE49-F238E27FC236}">
                  <a16:creationId xmlns:a16="http://schemas.microsoft.com/office/drawing/2014/main" id="{754CD96A-9AC8-94AE-EC39-E2F9776A62A4}"/>
                </a:ext>
              </a:extLst>
            </p:cNvPr>
            <p:cNvSpPr/>
            <p:nvPr/>
          </p:nvSpPr>
          <p:spPr bwMode="auto">
            <a:xfrm>
              <a:off x="362000" y="815593"/>
              <a:ext cx="1332148" cy="345094"/>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引用规范检查</a:t>
              </a:r>
            </a:p>
          </p:txBody>
        </p:sp>
        <p:sp>
          <p:nvSpPr>
            <p:cNvPr id="7" name="Rounded Rectangle 6">
              <a:extLst>
                <a:ext uri="{FF2B5EF4-FFF2-40B4-BE49-F238E27FC236}">
                  <a16:creationId xmlns:a16="http://schemas.microsoft.com/office/drawing/2014/main" id="{5EA744E7-0DBF-61C3-065F-68AC18184C21}"/>
                </a:ext>
              </a:extLst>
            </p:cNvPr>
            <p:cNvSpPr/>
            <p:nvPr/>
          </p:nvSpPr>
          <p:spPr bwMode="auto">
            <a:xfrm>
              <a:off x="362000" y="1235977"/>
              <a:ext cx="1332148" cy="608847"/>
            </a:xfrm>
            <a:prstGeom prst="roundRect">
              <a:avLst>
                <a:gd name="adj" fmla="val 8581"/>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写</a:t>
              </a: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标准</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用标准</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42125296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B3AAE-AE6F-BAE2-91F4-552FECBB40B3}"/>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AD502791-F539-443E-C2F7-E70EC6B4F251}"/>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a:t>
            </a:r>
            <a:r>
              <a:rPr lang="en-US" altLang="zh-CN" sz="1400" kern="0" dirty="0">
                <a:latin typeface="微软雅黑" panose="020B0503020204020204" pitchFamily="34" charset="-122"/>
                <a:ea typeface="微软雅黑" panose="020B0503020204020204" pitchFamily="34" charset="-122"/>
                <a:cs typeface="+mn-ea"/>
                <a:sym typeface="+mn-lt"/>
              </a:rPr>
              <a:t>04</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新老版本使用分析</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4213C45C-8102-1FCD-981B-ED3A2211C180}"/>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2" name="Group 1">
            <a:extLst>
              <a:ext uri="{FF2B5EF4-FFF2-40B4-BE49-F238E27FC236}">
                <a16:creationId xmlns:a16="http://schemas.microsoft.com/office/drawing/2014/main" id="{8BB5A170-DA1A-74AC-0E41-06E46B26EB7F}"/>
              </a:ext>
            </a:extLst>
          </p:cNvPr>
          <p:cNvGrpSpPr/>
          <p:nvPr/>
        </p:nvGrpSpPr>
        <p:grpSpPr>
          <a:xfrm>
            <a:off x="362000" y="815593"/>
            <a:ext cx="10850360" cy="1245255"/>
            <a:chOff x="362000" y="815593"/>
            <a:chExt cx="10850360" cy="1245255"/>
          </a:xfrm>
        </p:grpSpPr>
        <p:sp>
          <p:nvSpPr>
            <p:cNvPr id="3" name="Rounded Rectangle 2">
              <a:extLst>
                <a:ext uri="{FF2B5EF4-FFF2-40B4-BE49-F238E27FC236}">
                  <a16:creationId xmlns:a16="http://schemas.microsoft.com/office/drawing/2014/main" id="{FEEA9891-0214-BE73-93E7-490677348EC8}"/>
                </a:ext>
              </a:extLst>
            </p:cNvPr>
            <p:cNvSpPr/>
            <p:nvPr/>
          </p:nvSpPr>
          <p:spPr bwMode="auto">
            <a:xfrm>
              <a:off x="1779312" y="815593"/>
              <a:ext cx="9433048" cy="1245255"/>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eaLnBrk="1" hangingPunct="1"/>
              <a:r>
                <a:rPr lang="zh-CN" altLang="en-US" sz="1400"/>
                <a:t>分析新老版本用标准的差异</a:t>
              </a:r>
              <a:endParaRPr lang="en-US" altLang="zh-CN" sz="1400"/>
            </a:p>
            <a:p>
              <a:pPr eaLnBrk="1" hangingPunct="1"/>
              <a:endParaRPr lang="en-US" altLang="zh-CN" sz="1400"/>
            </a:p>
            <a:p>
              <a:pPr eaLnBrk="1" hangingPunct="1">
                <a:lnSpc>
                  <a:spcPct val="150000"/>
                </a:lnSpc>
              </a:pPr>
              <a:r>
                <a:rPr lang="zh-CN" altLang="en-US" sz="1400"/>
                <a:t>算法：分析哪些技术文档、加工工艺、产品设计等使用了老版本，分析并列出所使用的老版本的具体内容，再分析所使用的内容在新版本中有没有变更，如果有，需要分析此使用场景应做何种调整，并出具分析报告。</a:t>
              </a:r>
              <a:endParaRPr lang="en-US" sz="1400"/>
            </a:p>
          </p:txBody>
        </p:sp>
        <p:sp>
          <p:nvSpPr>
            <p:cNvPr id="4" name="Rounded Rectangle 3">
              <a:extLst>
                <a:ext uri="{FF2B5EF4-FFF2-40B4-BE49-F238E27FC236}">
                  <a16:creationId xmlns:a16="http://schemas.microsoft.com/office/drawing/2014/main" id="{9898C52B-319A-5BF3-3188-D0D7F879E541}"/>
                </a:ext>
              </a:extLst>
            </p:cNvPr>
            <p:cNvSpPr/>
            <p:nvPr/>
          </p:nvSpPr>
          <p:spPr bwMode="auto">
            <a:xfrm>
              <a:off x="362000" y="815593"/>
              <a:ext cx="1332148" cy="573628"/>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新老版本使用分析</a:t>
              </a:r>
            </a:p>
          </p:txBody>
        </p:sp>
        <p:sp>
          <p:nvSpPr>
            <p:cNvPr id="21" name="Rounded Rectangle 20">
              <a:extLst>
                <a:ext uri="{FF2B5EF4-FFF2-40B4-BE49-F238E27FC236}">
                  <a16:creationId xmlns:a16="http://schemas.microsoft.com/office/drawing/2014/main" id="{4E9AEE8C-E734-2E6C-7DC5-EC93ABF6DEDA}"/>
                </a:ext>
              </a:extLst>
            </p:cNvPr>
            <p:cNvSpPr/>
            <p:nvPr/>
          </p:nvSpPr>
          <p:spPr bwMode="auto">
            <a:xfrm>
              <a:off x="362000" y="1452001"/>
              <a:ext cx="1332148" cy="608847"/>
            </a:xfrm>
            <a:prstGeom prst="roundRect">
              <a:avLst>
                <a:gd name="adj" fmla="val 8581"/>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用标准</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30916181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8E71-C592-9B29-2B70-7400884DA9AF}"/>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0A8364AB-26CD-7361-A146-09C8BED53DE1}"/>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0</a:t>
            </a:r>
            <a:r>
              <a:rPr lang="en-US" altLang="zh-CN" sz="1400" kern="0" dirty="0">
                <a:latin typeface="微软雅黑" panose="020B0503020204020204" pitchFamily="34" charset="-122"/>
                <a:ea typeface="微软雅黑" panose="020B0503020204020204" pitchFamily="34" charset="-122"/>
                <a:cs typeface="+mn-ea"/>
                <a:sym typeface="+mn-lt"/>
              </a:rPr>
              <a:t>5</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正在编写标准分析</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4AE490A3-0AB8-C7D6-7FA0-22F7A010FCA4}"/>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2" name="Group 1">
            <a:extLst>
              <a:ext uri="{FF2B5EF4-FFF2-40B4-BE49-F238E27FC236}">
                <a16:creationId xmlns:a16="http://schemas.microsoft.com/office/drawing/2014/main" id="{527C08D1-F5C2-201A-BFBB-1F517B0D96C5}"/>
              </a:ext>
            </a:extLst>
          </p:cNvPr>
          <p:cNvGrpSpPr/>
          <p:nvPr/>
        </p:nvGrpSpPr>
        <p:grpSpPr>
          <a:xfrm>
            <a:off x="362000" y="815593"/>
            <a:ext cx="10850360" cy="1245255"/>
            <a:chOff x="362000" y="815593"/>
            <a:chExt cx="10850360" cy="1245255"/>
          </a:xfrm>
        </p:grpSpPr>
        <p:sp>
          <p:nvSpPr>
            <p:cNvPr id="3" name="Rounded Rectangle 2">
              <a:extLst>
                <a:ext uri="{FF2B5EF4-FFF2-40B4-BE49-F238E27FC236}">
                  <a16:creationId xmlns:a16="http://schemas.microsoft.com/office/drawing/2014/main" id="{B36595BE-1EF1-372D-2E69-ABF7AB5C6BE8}"/>
                </a:ext>
              </a:extLst>
            </p:cNvPr>
            <p:cNvSpPr/>
            <p:nvPr/>
          </p:nvSpPr>
          <p:spPr bwMode="auto">
            <a:xfrm>
              <a:off x="1779312" y="815593"/>
              <a:ext cx="9433048" cy="1245255"/>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eaLnBrk="1" hangingPunct="1"/>
              <a:r>
                <a:rPr lang="zh-CN" altLang="en-US" sz="1400"/>
                <a:t>对正在编写的标准（即阶段数据），检查当前公司各个环节的情况，出具评估报告</a:t>
              </a:r>
              <a:endParaRPr lang="en-US" altLang="zh-CN" sz="1400"/>
            </a:p>
            <a:p>
              <a:pPr eaLnBrk="1" hangingPunct="1"/>
              <a:br>
                <a:rPr lang="zh-CN" altLang="en-US" sz="1400"/>
              </a:br>
              <a:r>
                <a:rPr lang="zh-CN" altLang="en-US" sz="1400"/>
                <a:t>注：为实现上述目标，贯标非常重要！即我们需要知道公司哪些环节使用了哪些标准。更重要的是：公司哪些环节还没使用但应该使用标准，如本来内销的产品，如果需要销售到东盟、欧盟、北美等，需要满足什么标准等。</a:t>
              </a:r>
              <a:endParaRPr lang="en-US" sz="1400"/>
            </a:p>
          </p:txBody>
        </p:sp>
        <p:sp>
          <p:nvSpPr>
            <p:cNvPr id="4" name="Rounded Rectangle 3">
              <a:extLst>
                <a:ext uri="{FF2B5EF4-FFF2-40B4-BE49-F238E27FC236}">
                  <a16:creationId xmlns:a16="http://schemas.microsoft.com/office/drawing/2014/main" id="{870B4480-7756-6C8A-4B8C-D3D6C562F067}"/>
                </a:ext>
              </a:extLst>
            </p:cNvPr>
            <p:cNvSpPr/>
            <p:nvPr/>
          </p:nvSpPr>
          <p:spPr bwMode="auto">
            <a:xfrm>
              <a:off x="362000" y="815593"/>
              <a:ext cx="1332148" cy="573628"/>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正在编写标准分析</a:t>
              </a:r>
            </a:p>
          </p:txBody>
        </p:sp>
        <p:sp>
          <p:nvSpPr>
            <p:cNvPr id="21" name="Rounded Rectangle 20">
              <a:extLst>
                <a:ext uri="{FF2B5EF4-FFF2-40B4-BE49-F238E27FC236}">
                  <a16:creationId xmlns:a16="http://schemas.microsoft.com/office/drawing/2014/main" id="{D24AB0B8-D246-24D9-29BB-FE0977F57EA7}"/>
                </a:ext>
              </a:extLst>
            </p:cNvPr>
            <p:cNvSpPr/>
            <p:nvPr/>
          </p:nvSpPr>
          <p:spPr bwMode="auto">
            <a:xfrm>
              <a:off x="362000" y="1452001"/>
              <a:ext cx="1332148" cy="608847"/>
            </a:xfrm>
            <a:prstGeom prst="roundRect">
              <a:avLst>
                <a:gd name="adj" fmla="val 8581"/>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写标准</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用标准</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29236421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72594-1BFF-A1B9-B7D1-D7743CF07BD5}"/>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A957BB4C-3200-8468-A877-6E34F401A34E}"/>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a:t>
            </a:r>
            <a:r>
              <a:rPr lang="en-US" altLang="zh-CN" sz="1400" kern="0" dirty="0">
                <a:latin typeface="微软雅黑" panose="020B0503020204020204" pitchFamily="34" charset="-122"/>
                <a:ea typeface="微软雅黑" panose="020B0503020204020204" pitchFamily="34" charset="-122"/>
                <a:cs typeface="+mn-ea"/>
                <a:sym typeface="+mn-lt"/>
              </a:rPr>
              <a:t>06</a:t>
            </a:r>
            <a:r>
              <a:rPr lang="zh-CN" altLang="en-US" sz="1400" kern="0" dirty="0">
                <a:latin typeface="微软雅黑" panose="020B0503020204020204" pitchFamily="34" charset="-122"/>
                <a:ea typeface="微软雅黑" panose="020B0503020204020204" pitchFamily="34" charset="-122"/>
                <a:cs typeface="+mn-ea"/>
                <a:sym typeface="+mn-lt"/>
              </a:rPr>
              <a:t> </a:t>
            </a:r>
            <a:r>
              <a:rPr lang="en-US" altLang="zh-CN" sz="1400" kern="0" dirty="0">
                <a:latin typeface="微软雅黑" panose="020B0503020204020204" pitchFamily="34" charset="-122"/>
                <a:ea typeface="微软雅黑" panose="020B0503020204020204" pitchFamily="34" charset="-122"/>
                <a:cs typeface="+mn-ea"/>
                <a:sym typeface="+mn-lt"/>
              </a:rPr>
              <a:t>–</a:t>
            </a:r>
            <a:r>
              <a:rPr lang="zh-CN" altLang="en-US" sz="1400" kern="0" dirty="0">
                <a:latin typeface="微软雅黑" panose="020B0503020204020204" pitchFamily="34" charset="-122"/>
                <a:ea typeface="微软雅黑" panose="020B0503020204020204" pitchFamily="34" charset="-122"/>
                <a:cs typeface="+mn-ea"/>
                <a:sym typeface="+mn-lt"/>
              </a:rPr>
              <a:t> 废止标准分析</a:t>
            </a:r>
            <a:endParaRPr lang="en-US" sz="1400" kern="0" dirty="0">
              <a:latin typeface="微软雅黑" panose="020B0503020204020204" pitchFamily="34" charset="-122"/>
              <a:ea typeface="微软雅黑" panose="020B0503020204020204" pitchFamily="34" charset="-122"/>
              <a:cs typeface="+mn-ea"/>
              <a:sym typeface="+mn-lt"/>
            </a:endParaRPr>
          </a:p>
        </p:txBody>
      </p:sp>
      <p:sp>
        <p:nvSpPr>
          <p:cNvPr id="47" name="文本框 24">
            <a:extLst>
              <a:ext uri="{FF2B5EF4-FFF2-40B4-BE49-F238E27FC236}">
                <a16:creationId xmlns:a16="http://schemas.microsoft.com/office/drawing/2014/main" id="{9967C929-A482-E1E2-FA83-B1F0B8BFC7CD}"/>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grpSp>
        <p:nvGrpSpPr>
          <p:cNvPr id="2" name="Group 1">
            <a:extLst>
              <a:ext uri="{FF2B5EF4-FFF2-40B4-BE49-F238E27FC236}">
                <a16:creationId xmlns:a16="http://schemas.microsoft.com/office/drawing/2014/main" id="{E0A2F9B3-68D0-580B-E815-26CFDD4B46F9}"/>
              </a:ext>
            </a:extLst>
          </p:cNvPr>
          <p:cNvGrpSpPr/>
          <p:nvPr/>
        </p:nvGrpSpPr>
        <p:grpSpPr>
          <a:xfrm>
            <a:off x="362000" y="815593"/>
            <a:ext cx="10850360" cy="1245255"/>
            <a:chOff x="362000" y="815593"/>
            <a:chExt cx="10850360" cy="1245255"/>
          </a:xfrm>
        </p:grpSpPr>
        <p:sp>
          <p:nvSpPr>
            <p:cNvPr id="3" name="Rounded Rectangle 2">
              <a:extLst>
                <a:ext uri="{FF2B5EF4-FFF2-40B4-BE49-F238E27FC236}">
                  <a16:creationId xmlns:a16="http://schemas.microsoft.com/office/drawing/2014/main" id="{849EF842-4588-CF20-3A53-CCCDC2D0B101}"/>
                </a:ext>
              </a:extLst>
            </p:cNvPr>
            <p:cNvSpPr/>
            <p:nvPr/>
          </p:nvSpPr>
          <p:spPr bwMode="auto">
            <a:xfrm>
              <a:off x="1779312" y="815593"/>
              <a:ext cx="9433048" cy="1245255"/>
            </a:xfrm>
            <a:prstGeom prst="roundRect">
              <a:avLst>
                <a:gd name="adj" fmla="val 8581"/>
              </a:avLst>
            </a:prstGeom>
            <a:solidFill>
              <a:schemeClr val="tx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eaLnBrk="1" hangingPunct="1"/>
              <a:r>
                <a:rPr lang="zh-CN" altLang="en-US" sz="1400"/>
                <a:t>对即将废止但没有新版本的标准，分析哪些技术文档、加工工艺、产品设计等使用了该标准，并确定所使用的具体章节、条款、指标等。分析该如何应对此变化。</a:t>
              </a:r>
              <a:endParaRPr lang="en-US" sz="1400"/>
            </a:p>
          </p:txBody>
        </p:sp>
        <p:sp>
          <p:nvSpPr>
            <p:cNvPr id="4" name="Rounded Rectangle 3">
              <a:extLst>
                <a:ext uri="{FF2B5EF4-FFF2-40B4-BE49-F238E27FC236}">
                  <a16:creationId xmlns:a16="http://schemas.microsoft.com/office/drawing/2014/main" id="{7D9BC48D-8C2B-18D9-75A3-36AF31BD7E68}"/>
                </a:ext>
              </a:extLst>
            </p:cNvPr>
            <p:cNvSpPr/>
            <p:nvPr/>
          </p:nvSpPr>
          <p:spPr bwMode="auto">
            <a:xfrm>
              <a:off x="362000" y="815593"/>
              <a:ext cx="1332148" cy="573628"/>
            </a:xfrm>
            <a:prstGeom prst="roundRect">
              <a:avLst>
                <a:gd name="adj" fmla="val 8581"/>
              </a:avLst>
            </a:prstGeom>
            <a:solidFill>
              <a:srgbClr val="FFFF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rPr>
                <a:t>废止标准分析</a:t>
              </a:r>
            </a:p>
          </p:txBody>
        </p:sp>
        <p:sp>
          <p:nvSpPr>
            <p:cNvPr id="21" name="Rounded Rectangle 20">
              <a:extLst>
                <a:ext uri="{FF2B5EF4-FFF2-40B4-BE49-F238E27FC236}">
                  <a16:creationId xmlns:a16="http://schemas.microsoft.com/office/drawing/2014/main" id="{FE602FE0-3776-9504-E7E9-7A93AEF478DF}"/>
                </a:ext>
              </a:extLst>
            </p:cNvPr>
            <p:cNvSpPr/>
            <p:nvPr/>
          </p:nvSpPr>
          <p:spPr bwMode="auto">
            <a:xfrm>
              <a:off x="362000" y="1452001"/>
              <a:ext cx="1332148" cy="608847"/>
            </a:xfrm>
            <a:prstGeom prst="roundRect">
              <a:avLst>
                <a:gd name="adj" fmla="val 8581"/>
              </a:avLst>
            </a:prstGeom>
            <a:solidFill>
              <a:schemeClr val="accent2">
                <a:lumMod val="20000"/>
                <a:lumOff val="80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en-US" sz="1400"/>
                <a:t>用标准</a:t>
              </a:r>
              <a:endParaRPr kumimoji="0" lang="en-US" sz="1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3653907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59A0-3595-53BD-CBC2-6CD1A5A37018}"/>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760AE0E9-9C61-CAB5-E48C-C9F5188F15F8}"/>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03</a:t>
            </a:r>
          </a:p>
        </p:txBody>
      </p:sp>
      <p:sp>
        <p:nvSpPr>
          <p:cNvPr id="47" name="文本框 24">
            <a:extLst>
              <a:ext uri="{FF2B5EF4-FFF2-40B4-BE49-F238E27FC236}">
                <a16:creationId xmlns:a16="http://schemas.microsoft.com/office/drawing/2014/main" id="{D35B0677-7B05-CF2C-7DE3-FD86F2377934}"/>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4" name="TextBox 3">
            <a:extLst>
              <a:ext uri="{FF2B5EF4-FFF2-40B4-BE49-F238E27FC236}">
                <a16:creationId xmlns:a16="http://schemas.microsoft.com/office/drawing/2014/main" id="{28A8724A-6621-8098-608D-F8C5B4FD973B}"/>
              </a:ext>
            </a:extLst>
          </p:cNvPr>
          <p:cNvSpPr txBox="1"/>
          <p:nvPr/>
        </p:nvSpPr>
        <p:spPr>
          <a:xfrm>
            <a:off x="767408" y="877362"/>
            <a:ext cx="10585176" cy="1574790"/>
          </a:xfrm>
          <a:prstGeom prst="rect">
            <a:avLst/>
          </a:prstGeom>
          <a:noFill/>
        </p:spPr>
        <p:txBody>
          <a:bodyPr wrap="square">
            <a:spAutoFit/>
          </a:bodyPr>
          <a:lstStyle/>
          <a:p>
            <a:pPr marL="342900" marR="0" lvl="0" indent="-342900" algn="just">
              <a:lnSpc>
                <a:spcPts val="3000"/>
              </a:lnSpc>
              <a:buFont typeface="+mj-lt"/>
              <a:buAutoNum type="arabicPeriod"/>
            </a:pPr>
            <a:r>
              <a:rPr lang="zh-CN" sz="1200" kern="100">
                <a:effectLst/>
                <a:highlight>
                  <a:srgbClr val="FFFF00"/>
                </a:highlight>
                <a:latin typeface="Calibri" panose="020F0502020204030204" pitchFamily="34" charset="0"/>
                <a:ea typeface="仿宋_GB2312"/>
                <a:cs typeface="仿宋_GB2312"/>
              </a:rPr>
              <a:t>强条理解偏差：设计人员对强制性条款（强条）理解不一致，导致设计内容与法规标准实际要求不符，但设计人员难以察觉；</a:t>
            </a:r>
            <a:br>
              <a:rPr lang="en-US" sz="1200" kern="100">
                <a:effectLst/>
                <a:latin typeface="仿宋_GB2312"/>
                <a:ea typeface="仿宋_GB2312"/>
                <a:cs typeface="仿宋_GB2312"/>
              </a:rPr>
            </a:br>
            <a:r>
              <a:rPr lang="zh-CN" sz="1200" kern="100">
                <a:effectLst/>
                <a:highlight>
                  <a:srgbClr val="00FFFF"/>
                </a:highlight>
                <a:latin typeface="仿宋_GB2312"/>
                <a:ea typeface="仿宋_GB2312"/>
                <a:cs typeface="仿宋_GB2312"/>
              </a:rPr>
              <a:t>需要支持：但目前我们的数据还很难完成此任务，因为我们并不知道哪些是强条。可以用大模型自动提取，但会有一定的误差，而强条的识别原则上应该零误差。与其让小高她们加工结构化数据，不如让他们在现有的知识冶炼基础上对数据做深加工，如提取、识别、审核强条。如果我们可以识别标准中的强条，而且公司的文档通过我们的知识冶炼加工，这个功能可以做到。</a:t>
            </a:r>
            <a:endParaRPr lang="en-US" sz="1200" kern="10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38228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2CE45-5582-02F6-E009-154CFBF70AB8}"/>
            </a:ext>
          </a:extLst>
        </p:cNvPr>
        <p:cNvGrpSpPr/>
        <p:nvPr/>
      </p:nvGrpSpPr>
      <p:grpSpPr>
        <a:xfrm>
          <a:off x="0" y="0"/>
          <a:ext cx="0" cy="0"/>
          <a:chOff x="0" y="0"/>
          <a:chExt cx="0" cy="0"/>
        </a:xfrm>
      </p:grpSpPr>
      <p:sp>
        <p:nvSpPr>
          <p:cNvPr id="1129" name="TextBox 1128">
            <a:extLst>
              <a:ext uri="{FF2B5EF4-FFF2-40B4-BE49-F238E27FC236}">
                <a16:creationId xmlns:a16="http://schemas.microsoft.com/office/drawing/2014/main" id="{1A547D7B-7F27-8349-9ED6-6C47D2F8C8DE}"/>
              </a:ext>
            </a:extLst>
          </p:cNvPr>
          <p:cNvSpPr txBox="1"/>
          <p:nvPr/>
        </p:nvSpPr>
        <p:spPr>
          <a:xfrm>
            <a:off x="214312" y="123903"/>
            <a:ext cx="11570320" cy="345094"/>
          </a:xfrm>
          <a:prstGeom prst="rect">
            <a:avLst/>
          </a:prstGeom>
          <a:noFill/>
        </p:spPr>
        <p:txBody>
          <a:bodyPr wrap="square" rtlCol="0">
            <a:spAutoFit/>
          </a:bodyPr>
          <a:lstStyle/>
          <a:p>
            <a:pPr>
              <a:lnSpc>
                <a:spcPct val="130000"/>
              </a:lnSpc>
              <a:spcBef>
                <a:spcPts val="600"/>
              </a:spcBef>
            </a:pPr>
            <a:r>
              <a:rPr lang="en-US" sz="1400" kern="0" dirty="0">
                <a:latin typeface="微软雅黑" panose="020B0503020204020204" pitchFamily="34" charset="-122"/>
                <a:ea typeface="微软雅黑" panose="020B0503020204020204" pitchFamily="34" charset="-122"/>
                <a:cs typeface="+mn-ea"/>
                <a:sym typeface="+mn-lt"/>
              </a:rPr>
              <a:t>Agent 03</a:t>
            </a:r>
          </a:p>
        </p:txBody>
      </p:sp>
      <p:sp>
        <p:nvSpPr>
          <p:cNvPr id="47" name="文本框 24">
            <a:extLst>
              <a:ext uri="{FF2B5EF4-FFF2-40B4-BE49-F238E27FC236}">
                <a16:creationId xmlns:a16="http://schemas.microsoft.com/office/drawing/2014/main" id="{1092D391-E39F-53CD-06C2-0DD63AA83BB7}"/>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sp>
        <p:nvSpPr>
          <p:cNvPr id="4" name="TextBox 3">
            <a:extLst>
              <a:ext uri="{FF2B5EF4-FFF2-40B4-BE49-F238E27FC236}">
                <a16:creationId xmlns:a16="http://schemas.microsoft.com/office/drawing/2014/main" id="{75C12987-2A58-83D3-C351-C1F7763919D2}"/>
              </a:ext>
            </a:extLst>
          </p:cNvPr>
          <p:cNvSpPr txBox="1"/>
          <p:nvPr/>
        </p:nvSpPr>
        <p:spPr>
          <a:xfrm>
            <a:off x="767408" y="877362"/>
            <a:ext cx="10585176" cy="805349"/>
          </a:xfrm>
          <a:prstGeom prst="rect">
            <a:avLst/>
          </a:prstGeom>
          <a:noFill/>
        </p:spPr>
        <p:txBody>
          <a:bodyPr wrap="square">
            <a:spAutoFit/>
          </a:bodyPr>
          <a:lstStyle/>
          <a:p>
            <a:pPr marL="342900" marR="0" lvl="0" indent="-342900" algn="just">
              <a:lnSpc>
                <a:spcPts val="3000"/>
              </a:lnSpc>
              <a:buFont typeface="+mj-lt"/>
              <a:buAutoNum type="arabicPeriod"/>
            </a:pPr>
            <a:r>
              <a:rPr lang="zh-CN" sz="1200" kern="100">
                <a:effectLst/>
                <a:highlight>
                  <a:srgbClr val="FFFF00"/>
                </a:highlight>
                <a:latin typeface="Calibri" panose="020F0502020204030204" pitchFamily="34" charset="0"/>
                <a:ea typeface="仿宋_GB2312"/>
                <a:cs typeface="仿宋_GB2312"/>
              </a:rPr>
              <a:t>审查效率低下：传统审查依赖“人海战术”，需要编校审人员逐条内容核对，审查周期长、人力成本高。</a:t>
            </a:r>
            <a:br>
              <a:rPr lang="en-US" sz="1200" kern="100">
                <a:effectLst/>
                <a:latin typeface="仿宋_GB2312"/>
                <a:ea typeface="仿宋_GB2312"/>
                <a:cs typeface="仿宋_GB2312"/>
              </a:rPr>
            </a:br>
            <a:r>
              <a:rPr lang="zh-CN" sz="1200" kern="100">
                <a:effectLst/>
                <a:highlight>
                  <a:srgbClr val="00FFFF"/>
                </a:highlight>
                <a:latin typeface="仿宋_GB2312"/>
                <a:ea typeface="仿宋_GB2312"/>
                <a:cs typeface="仿宋_GB2312"/>
              </a:rPr>
              <a:t>需要支持：支持上面三个，这个自动支持</a:t>
            </a:r>
            <a:endParaRPr lang="en-US" sz="1200" kern="100">
              <a:effectLst/>
              <a:latin typeface="Calibri" panose="020F0502020204030204" pitchFamily="34"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733592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B5890-D521-A5AC-1988-A3D5BAEEA0FD}"/>
            </a:ext>
          </a:extLst>
        </p:cNvPr>
        <p:cNvGrpSpPr/>
        <p:nvPr/>
      </p:nvGrpSpPr>
      <p:grpSpPr>
        <a:xfrm>
          <a:off x="0" y="0"/>
          <a:ext cx="0" cy="0"/>
          <a:chOff x="0" y="0"/>
          <a:chExt cx="0" cy="0"/>
        </a:xfrm>
      </p:grpSpPr>
      <p:sp>
        <p:nvSpPr>
          <p:cNvPr id="47" name="文本框 24">
            <a:extLst>
              <a:ext uri="{FF2B5EF4-FFF2-40B4-BE49-F238E27FC236}">
                <a16:creationId xmlns:a16="http://schemas.microsoft.com/office/drawing/2014/main" id="{BAC339EA-3880-FC15-E4D2-06F127F70E14}"/>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pic>
        <p:nvPicPr>
          <p:cNvPr id="2" name="Picture 1">
            <a:extLst>
              <a:ext uri="{FF2B5EF4-FFF2-40B4-BE49-F238E27FC236}">
                <a16:creationId xmlns:a16="http://schemas.microsoft.com/office/drawing/2014/main" id="{B897A7E8-369F-4F51-6478-87E33018FAAF}"/>
              </a:ext>
            </a:extLst>
          </p:cNvPr>
          <p:cNvPicPr>
            <a:picLocks noChangeAspect="1"/>
          </p:cNvPicPr>
          <p:nvPr/>
        </p:nvPicPr>
        <p:blipFill>
          <a:blip r:embed="rId2"/>
          <a:srcRect b="27825"/>
          <a:stretch>
            <a:fillRect/>
          </a:stretch>
        </p:blipFill>
        <p:spPr>
          <a:xfrm>
            <a:off x="2209800" y="500537"/>
            <a:ext cx="7772400" cy="4080591"/>
          </a:xfrm>
          <a:prstGeom prst="rect">
            <a:avLst/>
          </a:prstGeom>
        </p:spPr>
      </p:pic>
      <p:sp>
        <p:nvSpPr>
          <p:cNvPr id="3" name="Rectangle 2">
            <a:extLst>
              <a:ext uri="{FF2B5EF4-FFF2-40B4-BE49-F238E27FC236}">
                <a16:creationId xmlns:a16="http://schemas.microsoft.com/office/drawing/2014/main" id="{7B63FE2B-25E3-FF03-72F7-E2DAB8B3A35F}"/>
              </a:ext>
            </a:extLst>
          </p:cNvPr>
          <p:cNvSpPr/>
          <p:nvPr/>
        </p:nvSpPr>
        <p:spPr bwMode="auto">
          <a:xfrm>
            <a:off x="2567608" y="3717032"/>
            <a:ext cx="1368152" cy="576064"/>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ectangle 7">
            <a:extLst>
              <a:ext uri="{FF2B5EF4-FFF2-40B4-BE49-F238E27FC236}">
                <a16:creationId xmlns:a16="http://schemas.microsoft.com/office/drawing/2014/main" id="{4867A62E-CD4D-AF17-DDB7-4C5D4F1C53FB}"/>
              </a:ext>
            </a:extLst>
          </p:cNvPr>
          <p:cNvSpPr/>
          <p:nvPr/>
        </p:nvSpPr>
        <p:spPr bwMode="auto">
          <a:xfrm>
            <a:off x="2705321" y="3751410"/>
            <a:ext cx="3384376" cy="576064"/>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TextBox 10">
            <a:extLst>
              <a:ext uri="{FF2B5EF4-FFF2-40B4-BE49-F238E27FC236}">
                <a16:creationId xmlns:a16="http://schemas.microsoft.com/office/drawing/2014/main" id="{6084EBB0-40FB-D114-68C3-6617103CDF58}"/>
              </a:ext>
            </a:extLst>
          </p:cNvPr>
          <p:cNvSpPr txBox="1"/>
          <p:nvPr/>
        </p:nvSpPr>
        <p:spPr>
          <a:xfrm>
            <a:off x="6744072" y="5733256"/>
            <a:ext cx="1368152" cy="276999"/>
          </a:xfrm>
          <a:prstGeom prst="rect">
            <a:avLst/>
          </a:prstGeom>
          <a:noFill/>
        </p:spPr>
        <p:txBody>
          <a:bodyPr wrap="square" rtlCol="0">
            <a:spAutoFit/>
          </a:bodyPr>
          <a:lstStyle/>
          <a:p>
            <a:r>
              <a:rPr lang="en-US" sz="1200">
                <a:solidFill>
                  <a:schemeClr val="bg1"/>
                </a:solidFill>
              </a:rPr>
              <a:t>Summary Graph</a:t>
            </a:r>
          </a:p>
        </p:txBody>
      </p:sp>
      <p:sp>
        <p:nvSpPr>
          <p:cNvPr id="18" name="Rectangle 17">
            <a:extLst>
              <a:ext uri="{FF2B5EF4-FFF2-40B4-BE49-F238E27FC236}">
                <a16:creationId xmlns:a16="http://schemas.microsoft.com/office/drawing/2014/main" id="{D939918A-6FB2-DD0E-0B46-44953977D50A}"/>
              </a:ext>
            </a:extLst>
          </p:cNvPr>
          <p:cNvSpPr/>
          <p:nvPr/>
        </p:nvSpPr>
        <p:spPr bwMode="auto">
          <a:xfrm>
            <a:off x="4151784" y="1605030"/>
            <a:ext cx="5544616" cy="2067872"/>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grpSp>
        <p:nvGrpSpPr>
          <p:cNvPr id="19" name="Group 18">
            <a:extLst>
              <a:ext uri="{FF2B5EF4-FFF2-40B4-BE49-F238E27FC236}">
                <a16:creationId xmlns:a16="http://schemas.microsoft.com/office/drawing/2014/main" id="{F2F4EC28-BF17-5AEE-EE59-7B2DAD484300}"/>
              </a:ext>
            </a:extLst>
          </p:cNvPr>
          <p:cNvGrpSpPr/>
          <p:nvPr/>
        </p:nvGrpSpPr>
        <p:grpSpPr>
          <a:xfrm>
            <a:off x="4972604" y="1605030"/>
            <a:ext cx="2966871" cy="301462"/>
            <a:chOff x="4943872" y="3691849"/>
            <a:chExt cx="2966871" cy="301462"/>
          </a:xfrm>
        </p:grpSpPr>
        <p:sp>
          <p:nvSpPr>
            <p:cNvPr id="9" name="Rounded Rectangle 8">
              <a:extLst>
                <a:ext uri="{FF2B5EF4-FFF2-40B4-BE49-F238E27FC236}">
                  <a16:creationId xmlns:a16="http://schemas.microsoft.com/office/drawing/2014/main" id="{6A086E73-2838-C7F2-797A-247A5D94137C}"/>
                </a:ext>
              </a:extLst>
            </p:cNvPr>
            <p:cNvSpPr/>
            <p:nvPr/>
          </p:nvSpPr>
          <p:spPr bwMode="auto">
            <a:xfrm>
              <a:off x="4943872" y="3699763"/>
              <a:ext cx="1368152" cy="288032"/>
            </a:xfrm>
            <a:prstGeom prst="round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TextBox 9">
              <a:extLst>
                <a:ext uri="{FF2B5EF4-FFF2-40B4-BE49-F238E27FC236}">
                  <a16:creationId xmlns:a16="http://schemas.microsoft.com/office/drawing/2014/main" id="{A5C73AF5-77AA-31F1-C4C0-8CE923BA8D61}"/>
                </a:ext>
              </a:extLst>
            </p:cNvPr>
            <p:cNvSpPr txBox="1"/>
            <p:nvPr/>
          </p:nvSpPr>
          <p:spPr>
            <a:xfrm>
              <a:off x="4943872" y="3691849"/>
              <a:ext cx="1368152" cy="276999"/>
            </a:xfrm>
            <a:prstGeom prst="rect">
              <a:avLst/>
            </a:prstGeom>
            <a:noFill/>
          </p:spPr>
          <p:txBody>
            <a:bodyPr wrap="square" rtlCol="0">
              <a:spAutoFit/>
            </a:bodyPr>
            <a:lstStyle/>
            <a:p>
              <a:r>
                <a:rPr lang="en-US" sz="1200">
                  <a:solidFill>
                    <a:schemeClr val="bg1"/>
                  </a:solidFill>
                </a:rPr>
                <a:t>Summary Graph</a:t>
              </a:r>
            </a:p>
          </p:txBody>
        </p:sp>
        <p:sp>
          <p:nvSpPr>
            <p:cNvPr id="12" name="Rounded Rectangle 11">
              <a:extLst>
                <a:ext uri="{FF2B5EF4-FFF2-40B4-BE49-F238E27FC236}">
                  <a16:creationId xmlns:a16="http://schemas.microsoft.com/office/drawing/2014/main" id="{78B54B3F-5DC0-3F99-DD0A-4B364CAD1D41}"/>
                </a:ext>
              </a:extLst>
            </p:cNvPr>
            <p:cNvSpPr/>
            <p:nvPr/>
          </p:nvSpPr>
          <p:spPr bwMode="auto">
            <a:xfrm>
              <a:off x="6312024" y="3699763"/>
              <a:ext cx="792088" cy="288032"/>
            </a:xfrm>
            <a:prstGeom prst="roundRect">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4" name="Rounded Rectangle 13">
              <a:extLst>
                <a:ext uri="{FF2B5EF4-FFF2-40B4-BE49-F238E27FC236}">
                  <a16:creationId xmlns:a16="http://schemas.microsoft.com/office/drawing/2014/main" id="{0A102322-0E8C-FC0F-B647-646E86C2EE40}"/>
                </a:ext>
              </a:extLst>
            </p:cNvPr>
            <p:cNvSpPr/>
            <p:nvPr/>
          </p:nvSpPr>
          <p:spPr bwMode="auto">
            <a:xfrm>
              <a:off x="7118655" y="3699763"/>
              <a:ext cx="792088" cy="288032"/>
            </a:xfrm>
            <a:prstGeom prst="roundRect">
              <a:avLst/>
            </a:prstGeom>
            <a:solidFill>
              <a:srgbClr val="FFC000"/>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5" name="TextBox 14">
              <a:extLst>
                <a:ext uri="{FF2B5EF4-FFF2-40B4-BE49-F238E27FC236}">
                  <a16:creationId xmlns:a16="http://schemas.microsoft.com/office/drawing/2014/main" id="{C409EC80-6F80-ED55-4AF8-0BE6F562F0D2}"/>
                </a:ext>
              </a:extLst>
            </p:cNvPr>
            <p:cNvSpPr txBox="1"/>
            <p:nvPr/>
          </p:nvSpPr>
          <p:spPr>
            <a:xfrm>
              <a:off x="6353845" y="3716312"/>
              <a:ext cx="750267" cy="276999"/>
            </a:xfrm>
            <a:prstGeom prst="rect">
              <a:avLst/>
            </a:prstGeom>
            <a:noFill/>
          </p:spPr>
          <p:txBody>
            <a:bodyPr wrap="square" rtlCol="0">
              <a:spAutoFit/>
            </a:bodyPr>
            <a:lstStyle/>
            <a:p>
              <a:pPr algn="ctr"/>
              <a:r>
                <a:rPr lang="en-US" sz="1200"/>
                <a:t>Health</a:t>
              </a:r>
            </a:p>
          </p:txBody>
        </p:sp>
        <p:sp>
          <p:nvSpPr>
            <p:cNvPr id="16" name="TextBox 15">
              <a:extLst>
                <a:ext uri="{FF2B5EF4-FFF2-40B4-BE49-F238E27FC236}">
                  <a16:creationId xmlns:a16="http://schemas.microsoft.com/office/drawing/2014/main" id="{452800DE-0374-2356-3931-6BA6F1FA53A9}"/>
                </a:ext>
              </a:extLst>
            </p:cNvPr>
            <p:cNvSpPr txBox="1"/>
            <p:nvPr/>
          </p:nvSpPr>
          <p:spPr>
            <a:xfrm>
              <a:off x="7132757" y="3716312"/>
              <a:ext cx="750267" cy="276999"/>
            </a:xfrm>
            <a:prstGeom prst="rect">
              <a:avLst/>
            </a:prstGeom>
            <a:noFill/>
          </p:spPr>
          <p:txBody>
            <a:bodyPr wrap="square" rtlCol="0">
              <a:spAutoFit/>
            </a:bodyPr>
            <a:lstStyle/>
            <a:p>
              <a:pPr algn="ctr"/>
              <a:r>
                <a:rPr lang="en-US" sz="1200"/>
                <a:t>Agent</a:t>
              </a:r>
            </a:p>
          </p:txBody>
        </p:sp>
      </p:grpSp>
      <p:pic>
        <p:nvPicPr>
          <p:cNvPr id="17" name="Picture 16">
            <a:extLst>
              <a:ext uri="{FF2B5EF4-FFF2-40B4-BE49-F238E27FC236}">
                <a16:creationId xmlns:a16="http://schemas.microsoft.com/office/drawing/2014/main" id="{87D18DA9-4913-FBE9-6123-79B7CE8A2D60}"/>
              </a:ext>
            </a:extLst>
          </p:cNvPr>
          <p:cNvPicPr>
            <a:picLocks noChangeAspect="1"/>
          </p:cNvPicPr>
          <p:nvPr/>
        </p:nvPicPr>
        <p:blipFill>
          <a:blip r:embed="rId3"/>
          <a:srcRect t="5110"/>
          <a:stretch>
            <a:fillRect/>
          </a:stretch>
        </p:blipFill>
        <p:spPr>
          <a:xfrm>
            <a:off x="4908922" y="1876311"/>
            <a:ext cx="3670300" cy="1819701"/>
          </a:xfrm>
          <a:prstGeom prst="rect">
            <a:avLst/>
          </a:prstGeom>
        </p:spPr>
      </p:pic>
      <p:sp>
        <p:nvSpPr>
          <p:cNvPr id="5" name="TextBox 4">
            <a:extLst>
              <a:ext uri="{FF2B5EF4-FFF2-40B4-BE49-F238E27FC236}">
                <a16:creationId xmlns:a16="http://schemas.microsoft.com/office/drawing/2014/main" id="{FE83AFFC-7191-D8A2-E521-5CB38DA77EA4}"/>
              </a:ext>
            </a:extLst>
          </p:cNvPr>
          <p:cNvSpPr txBox="1"/>
          <p:nvPr/>
        </p:nvSpPr>
        <p:spPr>
          <a:xfrm>
            <a:off x="2766157" y="3620487"/>
            <a:ext cx="1728192" cy="461665"/>
          </a:xfrm>
          <a:prstGeom prst="rect">
            <a:avLst/>
          </a:prstGeom>
          <a:noFill/>
        </p:spPr>
        <p:txBody>
          <a:bodyPr wrap="square" rtlCol="0">
            <a:spAutoFit/>
          </a:bodyPr>
          <a:lstStyle/>
          <a:p>
            <a:r>
              <a:rPr lang="en-US" sz="1200"/>
              <a:t>Summary Graph</a:t>
            </a:r>
          </a:p>
          <a:p>
            <a:r>
              <a:rPr lang="en-US" sz="1200">
                <a:solidFill>
                  <a:schemeClr val="bg1">
                    <a:lumMod val="85000"/>
                  </a:schemeClr>
                </a:solidFill>
              </a:rPr>
              <a:t>Summary Tree</a:t>
            </a:r>
          </a:p>
        </p:txBody>
      </p:sp>
    </p:spTree>
    <p:extLst>
      <p:ext uri="{BB962C8B-B14F-4D97-AF65-F5344CB8AC3E}">
        <p14:creationId xmlns:p14="http://schemas.microsoft.com/office/powerpoint/2010/main" val="101951292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9EE2-32BB-023C-770B-3E5C83A32421}"/>
            </a:ext>
          </a:extLst>
        </p:cNvPr>
        <p:cNvGrpSpPr/>
        <p:nvPr/>
      </p:nvGrpSpPr>
      <p:grpSpPr>
        <a:xfrm>
          <a:off x="0" y="0"/>
          <a:ext cx="0" cy="0"/>
          <a:chOff x="0" y="0"/>
          <a:chExt cx="0" cy="0"/>
        </a:xfrm>
      </p:grpSpPr>
      <p:sp>
        <p:nvSpPr>
          <p:cNvPr id="47" name="文本框 24">
            <a:extLst>
              <a:ext uri="{FF2B5EF4-FFF2-40B4-BE49-F238E27FC236}">
                <a16:creationId xmlns:a16="http://schemas.microsoft.com/office/drawing/2014/main" id="{CB2E922D-C38E-8B64-E22D-A69547F140B2}"/>
              </a:ext>
            </a:extLst>
          </p:cNvPr>
          <p:cNvSpPr txBox="1"/>
          <p:nvPr/>
        </p:nvSpPr>
        <p:spPr>
          <a:xfrm>
            <a:off x="95118" y="6623201"/>
            <a:ext cx="3048554" cy="215444"/>
          </a:xfrm>
          <a:prstGeom prst="rect">
            <a:avLst/>
          </a:prstGeom>
          <a:noFill/>
        </p:spPr>
        <p:txBody>
          <a:bodyPr wrap="square" rtlCol="0">
            <a:spAutoFit/>
          </a:bodyPr>
          <a:lstStyle/>
          <a:p>
            <a:r>
              <a:rPr lang="en-US" altLang="zh-CN"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rPr>
              <a:t>Confidential and all rights reserved by Runsand Co. Ltd.</a:t>
            </a:r>
            <a:endParaRPr lang="zh-CN" altLang="en-US" sz="800" i="1" dirty="0">
              <a:solidFill>
                <a:schemeClr val="bg1">
                  <a:lumMod val="50000"/>
                </a:schemeClr>
              </a:solidFill>
              <a:latin typeface="楷体" panose="02010609060101010101" pitchFamily="49" charset="-122"/>
              <a:ea typeface="楷体" panose="02010609060101010101" pitchFamily="49" charset="-122"/>
              <a:cs typeface="Arial" panose="020B0604020202020204" pitchFamily="34" charset="0"/>
            </a:endParaRPr>
          </a:p>
        </p:txBody>
      </p:sp>
      <p:pic>
        <p:nvPicPr>
          <p:cNvPr id="2" name="Picture 1">
            <a:extLst>
              <a:ext uri="{FF2B5EF4-FFF2-40B4-BE49-F238E27FC236}">
                <a16:creationId xmlns:a16="http://schemas.microsoft.com/office/drawing/2014/main" id="{F3163722-1880-C7C3-BA61-225FB60C6D41}"/>
              </a:ext>
            </a:extLst>
          </p:cNvPr>
          <p:cNvPicPr>
            <a:picLocks noChangeAspect="1"/>
          </p:cNvPicPr>
          <p:nvPr/>
        </p:nvPicPr>
        <p:blipFill>
          <a:blip r:embed="rId2"/>
          <a:srcRect b="27825"/>
          <a:stretch>
            <a:fillRect/>
          </a:stretch>
        </p:blipFill>
        <p:spPr>
          <a:xfrm>
            <a:off x="2209800" y="500537"/>
            <a:ext cx="7772400" cy="4080591"/>
          </a:xfrm>
          <a:prstGeom prst="rect">
            <a:avLst/>
          </a:prstGeom>
        </p:spPr>
      </p:pic>
      <p:sp>
        <p:nvSpPr>
          <p:cNvPr id="3" name="Rectangle 2">
            <a:extLst>
              <a:ext uri="{FF2B5EF4-FFF2-40B4-BE49-F238E27FC236}">
                <a16:creationId xmlns:a16="http://schemas.microsoft.com/office/drawing/2014/main" id="{E19384AC-98AF-B46C-5E2C-775AB04699BF}"/>
              </a:ext>
            </a:extLst>
          </p:cNvPr>
          <p:cNvSpPr/>
          <p:nvPr/>
        </p:nvSpPr>
        <p:spPr bwMode="auto">
          <a:xfrm>
            <a:off x="2567608" y="3717032"/>
            <a:ext cx="1368152" cy="576064"/>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Rectangle 7">
            <a:extLst>
              <a:ext uri="{FF2B5EF4-FFF2-40B4-BE49-F238E27FC236}">
                <a16:creationId xmlns:a16="http://schemas.microsoft.com/office/drawing/2014/main" id="{B9CBEA9E-2AC9-50B4-6108-56BC69477AFB}"/>
              </a:ext>
            </a:extLst>
          </p:cNvPr>
          <p:cNvSpPr/>
          <p:nvPr/>
        </p:nvSpPr>
        <p:spPr bwMode="auto">
          <a:xfrm>
            <a:off x="2705321" y="3751410"/>
            <a:ext cx="3384376" cy="576064"/>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TextBox 10">
            <a:extLst>
              <a:ext uri="{FF2B5EF4-FFF2-40B4-BE49-F238E27FC236}">
                <a16:creationId xmlns:a16="http://schemas.microsoft.com/office/drawing/2014/main" id="{552F9622-C2E0-FE3E-435D-61D7272F8767}"/>
              </a:ext>
            </a:extLst>
          </p:cNvPr>
          <p:cNvSpPr txBox="1"/>
          <p:nvPr/>
        </p:nvSpPr>
        <p:spPr>
          <a:xfrm>
            <a:off x="6744072" y="5733256"/>
            <a:ext cx="1368152" cy="276999"/>
          </a:xfrm>
          <a:prstGeom prst="rect">
            <a:avLst/>
          </a:prstGeom>
          <a:noFill/>
        </p:spPr>
        <p:txBody>
          <a:bodyPr wrap="square" rtlCol="0">
            <a:spAutoFit/>
          </a:bodyPr>
          <a:lstStyle/>
          <a:p>
            <a:r>
              <a:rPr lang="en-US" sz="1200">
                <a:solidFill>
                  <a:schemeClr val="bg1"/>
                </a:solidFill>
              </a:rPr>
              <a:t>Summary Graph</a:t>
            </a:r>
          </a:p>
        </p:txBody>
      </p:sp>
      <p:sp>
        <p:nvSpPr>
          <p:cNvPr id="18" name="Rectangle 17">
            <a:extLst>
              <a:ext uri="{FF2B5EF4-FFF2-40B4-BE49-F238E27FC236}">
                <a16:creationId xmlns:a16="http://schemas.microsoft.com/office/drawing/2014/main" id="{2D7222C7-C1DC-A0EA-A6F9-9783D9FE18BD}"/>
              </a:ext>
            </a:extLst>
          </p:cNvPr>
          <p:cNvSpPr/>
          <p:nvPr/>
        </p:nvSpPr>
        <p:spPr bwMode="auto">
          <a:xfrm>
            <a:off x="4151784" y="1605030"/>
            <a:ext cx="5544616" cy="2067872"/>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5" name="TextBox 4">
            <a:extLst>
              <a:ext uri="{FF2B5EF4-FFF2-40B4-BE49-F238E27FC236}">
                <a16:creationId xmlns:a16="http://schemas.microsoft.com/office/drawing/2014/main" id="{250BF797-BA8F-7431-5762-4A935575D45B}"/>
              </a:ext>
            </a:extLst>
          </p:cNvPr>
          <p:cNvSpPr txBox="1"/>
          <p:nvPr/>
        </p:nvSpPr>
        <p:spPr>
          <a:xfrm>
            <a:off x="2766157" y="3620487"/>
            <a:ext cx="1728192" cy="461665"/>
          </a:xfrm>
          <a:prstGeom prst="rect">
            <a:avLst/>
          </a:prstGeom>
          <a:noFill/>
        </p:spPr>
        <p:txBody>
          <a:bodyPr wrap="square" rtlCol="0">
            <a:spAutoFit/>
          </a:bodyPr>
          <a:lstStyle/>
          <a:p>
            <a:r>
              <a:rPr lang="en-US" sz="1200">
                <a:solidFill>
                  <a:schemeClr val="bg1">
                    <a:lumMod val="85000"/>
                  </a:schemeClr>
                </a:solidFill>
              </a:rPr>
              <a:t>Summary Graph</a:t>
            </a:r>
          </a:p>
          <a:p>
            <a:r>
              <a:rPr lang="en-US" sz="1200"/>
              <a:t>Summary Tree</a:t>
            </a:r>
          </a:p>
        </p:txBody>
      </p:sp>
      <p:pic>
        <p:nvPicPr>
          <p:cNvPr id="6" name="Picture 5">
            <a:extLst>
              <a:ext uri="{FF2B5EF4-FFF2-40B4-BE49-F238E27FC236}">
                <a16:creationId xmlns:a16="http://schemas.microsoft.com/office/drawing/2014/main" id="{62599BCF-CBCE-238D-4B84-92BA5AFA61D9}"/>
              </a:ext>
            </a:extLst>
          </p:cNvPr>
          <p:cNvPicPr>
            <a:picLocks noChangeAspect="1"/>
          </p:cNvPicPr>
          <p:nvPr/>
        </p:nvPicPr>
        <p:blipFill>
          <a:blip r:embed="rId3"/>
          <a:stretch>
            <a:fillRect/>
          </a:stretch>
        </p:blipFill>
        <p:spPr>
          <a:xfrm>
            <a:off x="4494348" y="1709336"/>
            <a:ext cx="1430269" cy="2511752"/>
          </a:xfrm>
          <a:prstGeom prst="rect">
            <a:avLst/>
          </a:prstGeom>
        </p:spPr>
      </p:pic>
      <p:pic>
        <p:nvPicPr>
          <p:cNvPr id="7" name="Picture 6">
            <a:extLst>
              <a:ext uri="{FF2B5EF4-FFF2-40B4-BE49-F238E27FC236}">
                <a16:creationId xmlns:a16="http://schemas.microsoft.com/office/drawing/2014/main" id="{DD4838B7-C6C2-9242-3A80-304DA9E79090}"/>
              </a:ext>
            </a:extLst>
          </p:cNvPr>
          <p:cNvPicPr>
            <a:picLocks noChangeAspect="1"/>
          </p:cNvPicPr>
          <p:nvPr/>
        </p:nvPicPr>
        <p:blipFill>
          <a:blip r:embed="rId3"/>
          <a:stretch>
            <a:fillRect/>
          </a:stretch>
        </p:blipFill>
        <p:spPr>
          <a:xfrm>
            <a:off x="5930919" y="1709337"/>
            <a:ext cx="3693473" cy="2511752"/>
          </a:xfrm>
          <a:prstGeom prst="rect">
            <a:avLst/>
          </a:prstGeom>
        </p:spPr>
      </p:pic>
      <p:sp>
        <p:nvSpPr>
          <p:cNvPr id="13" name="Rectangle 12">
            <a:extLst>
              <a:ext uri="{FF2B5EF4-FFF2-40B4-BE49-F238E27FC236}">
                <a16:creationId xmlns:a16="http://schemas.microsoft.com/office/drawing/2014/main" id="{D79F9879-0A2F-0ADB-BEED-94C119664E37}"/>
              </a:ext>
            </a:extLst>
          </p:cNvPr>
          <p:cNvSpPr/>
          <p:nvPr/>
        </p:nvSpPr>
        <p:spPr bwMode="auto">
          <a:xfrm>
            <a:off x="4562526" y="1844824"/>
            <a:ext cx="1293912" cy="440577"/>
          </a:xfrm>
          <a:prstGeom prst="rect">
            <a:avLst/>
          </a:prstGeom>
          <a:solidFill>
            <a:schemeClr val="bg2"/>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0" name="Rectangle 19">
            <a:extLst>
              <a:ext uri="{FF2B5EF4-FFF2-40B4-BE49-F238E27FC236}">
                <a16:creationId xmlns:a16="http://schemas.microsoft.com/office/drawing/2014/main" id="{A9B208EC-6455-B1D9-2966-8DCD74E5DEAF}"/>
              </a:ext>
            </a:extLst>
          </p:cNvPr>
          <p:cNvSpPr/>
          <p:nvPr/>
        </p:nvSpPr>
        <p:spPr bwMode="auto">
          <a:xfrm>
            <a:off x="4562526" y="2320543"/>
            <a:ext cx="1293912" cy="1761609"/>
          </a:xfrm>
          <a:prstGeom prst="rect">
            <a:avLst/>
          </a:prstGeom>
          <a:solidFill>
            <a:schemeClr val="bg2"/>
          </a:solidFill>
          <a:ln w="9525" cap="flat" cmpd="sng" algn="ctr">
            <a:solidFill>
              <a:schemeClr val="bg1"/>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21" name="TextBox 20">
            <a:extLst>
              <a:ext uri="{FF2B5EF4-FFF2-40B4-BE49-F238E27FC236}">
                <a16:creationId xmlns:a16="http://schemas.microsoft.com/office/drawing/2014/main" id="{51F7BBD4-AEEE-5B7B-D74F-44A8C87221FB}"/>
              </a:ext>
            </a:extLst>
          </p:cNvPr>
          <p:cNvSpPr txBox="1"/>
          <p:nvPr/>
        </p:nvSpPr>
        <p:spPr>
          <a:xfrm>
            <a:off x="4669422" y="1923096"/>
            <a:ext cx="1080120" cy="276999"/>
          </a:xfrm>
          <a:prstGeom prst="rect">
            <a:avLst/>
          </a:prstGeom>
          <a:noFill/>
        </p:spPr>
        <p:txBody>
          <a:bodyPr wrap="square" rtlCol="0">
            <a:spAutoFit/>
          </a:bodyPr>
          <a:lstStyle/>
          <a:p>
            <a:r>
              <a:rPr lang="en-US" sz="1200"/>
              <a:t>Search Area</a:t>
            </a:r>
          </a:p>
        </p:txBody>
      </p:sp>
      <p:sp>
        <p:nvSpPr>
          <p:cNvPr id="22" name="TextBox 21">
            <a:extLst>
              <a:ext uri="{FF2B5EF4-FFF2-40B4-BE49-F238E27FC236}">
                <a16:creationId xmlns:a16="http://schemas.microsoft.com/office/drawing/2014/main" id="{5DC93B10-1F40-1729-7E6F-5B6C0951AC0D}"/>
              </a:ext>
            </a:extLst>
          </p:cNvPr>
          <p:cNvSpPr txBox="1"/>
          <p:nvPr/>
        </p:nvSpPr>
        <p:spPr>
          <a:xfrm>
            <a:off x="4669422" y="2500466"/>
            <a:ext cx="1080120" cy="276999"/>
          </a:xfrm>
          <a:prstGeom prst="rect">
            <a:avLst/>
          </a:prstGeom>
          <a:noFill/>
        </p:spPr>
        <p:txBody>
          <a:bodyPr wrap="square" rtlCol="0">
            <a:spAutoFit/>
          </a:bodyPr>
          <a:lstStyle/>
          <a:p>
            <a:r>
              <a:rPr lang="en-US" sz="1200"/>
              <a:t>List</a:t>
            </a:r>
          </a:p>
        </p:txBody>
      </p:sp>
      <p:sp>
        <p:nvSpPr>
          <p:cNvPr id="23" name="TextBox 22">
            <a:extLst>
              <a:ext uri="{FF2B5EF4-FFF2-40B4-BE49-F238E27FC236}">
                <a16:creationId xmlns:a16="http://schemas.microsoft.com/office/drawing/2014/main" id="{315E7DF8-E8EB-B082-1FFB-EA7516AAAC2C}"/>
              </a:ext>
            </a:extLst>
          </p:cNvPr>
          <p:cNvSpPr txBox="1"/>
          <p:nvPr/>
        </p:nvSpPr>
        <p:spPr>
          <a:xfrm>
            <a:off x="6957628" y="2580202"/>
            <a:ext cx="1080120" cy="276999"/>
          </a:xfrm>
          <a:prstGeom prst="rect">
            <a:avLst/>
          </a:prstGeom>
          <a:noFill/>
        </p:spPr>
        <p:txBody>
          <a:bodyPr wrap="square" rtlCol="0">
            <a:spAutoFit/>
          </a:bodyPr>
          <a:lstStyle/>
          <a:p>
            <a:r>
              <a:rPr lang="en-US" sz="1200"/>
              <a:t>PDF Display</a:t>
            </a:r>
          </a:p>
        </p:txBody>
      </p:sp>
    </p:spTree>
    <p:extLst>
      <p:ext uri="{BB962C8B-B14F-4D97-AF65-F5344CB8AC3E}">
        <p14:creationId xmlns:p14="http://schemas.microsoft.com/office/powerpoint/2010/main" val="25318645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b54420a7-3e9b-4f8c-be22-8bc4601c635c"/>
  <p:tag name="COMMONDATA" val="eyJoZGlkIjoiYjE2OGQ4MDBjNmYzMGViMjI2MGFkYjA1YjJmYjM2ZjYifQ=="/>
  <p:tag name="RESOURCE_RECORD_KEY" val="{&quot;10&quot;:[20211662,19963824,50047511,6463483,21581520,21581502,21581506,4394278,21602056,50046104,50048990,21540209,50027491,21581489,21581521,50029643,4589160],&quot;70&quot;:[3318481,3322543,3312357,3318493,3314358,3312530,3312810,3314426,3320031,3312415,3318869,3323870,3327386,3323864,3402067,3321644,3322067,3323868,3333487,3333609,3331400,3325735,3312411,3326188]}"/>
</p:tagLst>
</file>

<file path=ppt/theme/theme1.xml><?xml version="1.0" encoding="utf-8"?>
<a:theme xmlns:a="http://schemas.openxmlformats.org/drawingml/2006/main" name="Office 主题">
  <a:themeElements>
    <a:clrScheme name="Office 主题 1">
      <a:dk1>
        <a:srgbClr val="000000"/>
      </a:dk1>
      <a:lt1>
        <a:srgbClr val="FFFFFF"/>
      </a:lt1>
      <a:dk2>
        <a:srgbClr val="44546A"/>
      </a:dk2>
      <a:lt2>
        <a:srgbClr val="E7E6E6"/>
      </a:lt2>
      <a:accent1>
        <a:srgbClr val="0070C0"/>
      </a:accent1>
      <a:accent2>
        <a:srgbClr val="ED7D31"/>
      </a:accent2>
      <a:accent3>
        <a:srgbClr val="FFFFFF"/>
      </a:accent3>
      <a:accent4>
        <a:srgbClr val="000000"/>
      </a:accent4>
      <a:accent5>
        <a:srgbClr val="AABBDC"/>
      </a:accent5>
      <a:accent6>
        <a:srgbClr val="D7712B"/>
      </a:accent6>
      <a:hlink>
        <a:srgbClr val="0563C1"/>
      </a:hlink>
      <a:folHlink>
        <a:srgbClr val="954F72"/>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solidFill>
          <a:schemeClr val="accent1"/>
        </a:solidFill>
        <a:ln w="9525" cap="flat" cmpd="sng" algn="ctr">
          <a:solidFill>
            <a:schemeClr val="tx1"/>
          </a:solidFill>
          <a:prstDash val="solid"/>
          <a:round/>
          <a:headEnd type="none" w="med" len="med"/>
          <a:tailEnd type="none" w="med" len="med"/>
        </a:ln>
      </a:spPr>
      <a:bodyPr/>
      <a:lstStyle/>
    </a:lnDef>
  </a:objectDefaults>
  <a:extraClrSchemeLst>
    <a:extraClrScheme>
      <a:clrScheme name="Office 主题 1">
        <a:dk1>
          <a:srgbClr val="000000"/>
        </a:dk1>
        <a:lt1>
          <a:srgbClr val="FFFFFF"/>
        </a:lt1>
        <a:dk2>
          <a:srgbClr val="44546A"/>
        </a:dk2>
        <a:lt2>
          <a:srgbClr val="E7E6E6"/>
        </a:lt2>
        <a:accent1>
          <a:srgbClr val="0070C0"/>
        </a:accent1>
        <a:accent2>
          <a:srgbClr val="ED7D31"/>
        </a:accent2>
        <a:accent3>
          <a:srgbClr val="FFFFFF"/>
        </a:accent3>
        <a:accent4>
          <a:srgbClr val="000000"/>
        </a:accent4>
        <a:accent5>
          <a:srgbClr val="AABBDC"/>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31037</TotalTime>
  <Words>2205</Words>
  <Application>Microsoft Macintosh PowerPoint</Application>
  <PresentationFormat>Widescreen</PresentationFormat>
  <Paragraphs>238</Paragraphs>
  <Slides>32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仿宋_GB2312</vt:lpstr>
      <vt:lpstr>楷体</vt:lpstr>
      <vt:lpstr>微软雅黑</vt:lpstr>
      <vt:lpstr>Arial</vt:lpstr>
      <vt:lpstr>Calibri</vt:lpstr>
      <vt:lpstr>Calibri Light</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Chen Ding</cp:lastModifiedBy>
  <cp:revision>1267</cp:revision>
  <cp:lastPrinted>2024-05-30T06:36:00Z</cp:lastPrinted>
  <dcterms:created xsi:type="dcterms:W3CDTF">2015-03-26T07:55:00Z</dcterms:created>
  <dcterms:modified xsi:type="dcterms:W3CDTF">2026-05-03T10:55:34Z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C549B8B8EC5343269231FDCD47A990B9_13</vt:lpwstr>
  </property>
</Properties>
</file>